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60" r:id="rId2"/>
    <p:sldId id="256" r:id="rId3"/>
    <p:sldId id="257" r:id="rId4"/>
    <p:sldId id="261" r:id="rId5"/>
    <p:sldId id="259" r:id="rId6"/>
    <p:sldId id="262"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F32200-80EE-F3DB-27E8-9CEEE124DDF9}" v="139" dt="2026-10-22T13:51:45.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AD76C19A-E560-4515-8A28-F869DF0B40B9}" type="datetimeFigureOut">
              <a:t>10/22/2026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6A8BF41A-D3D0-434C-AD15-AFCA1088B6C8}" type="slidenum">
              <a:t>‹#›</a:t>
            </a:fld>
            <a:endParaRPr lang="en-US"/>
          </a:p>
        </p:txBody>
      </p:sp>
    </p:spTree>
    <p:extLst>
      <p:ext uri="{BB962C8B-B14F-4D97-AF65-F5344CB8AC3E}">
        <p14:creationId xmlns:p14="http://schemas.microsoft.com/office/powerpoint/2010/main" val="3588465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introduce the POC in one minute.
Business problem: appeals teams are measured on turnaround (SLA) and compliance. Today every ad-hoc question needs an analyst, a SQL query, a chart and a written explanation, so answers are slow and dashboards only cover questions somebody anticipated.
What DataTalk.AI does: a user types (or speaks) a question; the app drafts a read-only database query, runs it on live Databricks data, and returns a direct finding, charts, an evidence-linked insight panel, recommended actions and the exact SQL.
Design principle: the AI is used to understand the question and word the answer; code computes and verifies every number.
The card on the right is an illustrative layout of an answer. It contains no real data. The sample question is one of the built-in example questions in the app.
[Sources] README.md (Business problem, Key capabilities); dashboards/ai_assistant.py; core/example_questions.py.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show what is implemented today and how it is used.
Walk the six cards left to right. Key message: every answer arrives as a pack: finding, charts, insight panel, actions, result table and the exact SQL, so a reader can check where a number came from.
Governed SQL: the AI only drafts a single read-only SELECT on one approved table; code validates it before it runs. Verified insights: AI sentences containing numbers that cannot be traced to the query result are removed.
Outlook drafts open a compose window pre-filled with the action; the app never sends e-mail.
Quick actions and the four dashboards are deterministic (pandas) and do not call the AI.
The right-hand panel lists the built-in example questions from the app and the quick-action buttons. Answer quality on other questions has not been benchmarked yet (see slide 5).
[Sources] README.md (Key capabilities); core/example_questions.py; dashboards/ai_assistant.py; components/outlook_mail.py; components/insight_panel.py.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Only steps 3 and 4 use the AI model (purple); everything else is code. Step 2 sends recognised quick actions such as 'forecast' or 'overdue appeals' straight to deterministic analytics, so they make no AI call. In step 4 the generated query must pass a read-only safety check limited to the approved table and columns; if it is rejected, the AI gets exactly one repair attempt. In step 5 the numbers, charts and evidence are computed by code; AI may reword the narrative, but any sentence with a number that is not in the evidence is removed. A typical single question uses 2 to 4 AI calls; a previously answered question is reused without any AI call.
[Sources] DataTalk.AI repository: app.py, agents/, core/, components/, dashboards/, docs/*.svg, README.md.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explain the building blocks simply and where each integration sits.
Read the stack top to bottom. The Streamlit app is the only user-facing layer. The Supervisor Agent routes each question without calling the AI. The Analytics Reasoning Agent orchestrates the AI agents and the deterministic services.
Colour code (same as the repository diagrams): purple = AI step, blue = deterministic code, green = data.
Division of labour: AI agents understand the question, draft SQL and propose wording. Code validates SQL, computes every statistic, chooses and reconciles charts, and removes any AI sentence with an untraceable number or a causal claim.
Integrations: Databricks (data), Groq (hosted language model, model name is a setting), Outlook (compose link only).
Privacy point for technical leads: row-level data is not sent to the AI, but the question text, schema, metric definitions, category values and aggregated evidence values are. A PHI/PII review is recommended before use with real data (README, Security).
Full diagram: docs/datatalk_dataflow_diagram.svg.
[Sources] README.md (Architecture, Safety, Data sent to the LLM); core/llm.py; core/settings.py; components/outlook_mail.py; docs/datatalk_dataflow_diagram.svg.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6C5CEE-53A0-0C92-4D25-7280C99FB346}"/>
              </a:ext>
            </a:extLst>
          </p:cNvPr>
          <p:cNvSpPr txBox="1"/>
          <p:nvPr/>
        </p:nvSpPr>
        <p:spPr>
          <a:xfrm>
            <a:off x="2773770" y="879852"/>
            <a:ext cx="225182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EXL LOGO with Intro</a:t>
            </a:r>
            <a:endParaRPr lang="en-US"/>
          </a:p>
        </p:txBody>
      </p:sp>
    </p:spTree>
    <p:extLst>
      <p:ext uri="{BB962C8B-B14F-4D97-AF65-F5344CB8AC3E}">
        <p14:creationId xmlns:p14="http://schemas.microsoft.com/office/powerpoint/2010/main" val="37373249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0B1F3A"/>
        </a:solidFill>
        <a:effectLst/>
      </p:bgPr>
    </p:bg>
    <p:spTree>
      <p:nvGrpSpPr>
        <p:cNvPr id="1" name=""/>
        <p:cNvGrpSpPr/>
        <p:nvPr/>
      </p:nvGrpSpPr>
      <p:grpSpPr>
        <a:xfrm>
          <a:off x="0" y="0"/>
          <a:ext cx="0" cy="0"/>
          <a:chOff x="0" y="0"/>
          <a:chExt cx="0" cy="0"/>
        </a:xfrm>
      </p:grpSpPr>
      <p:sp>
        <p:nvSpPr>
          <p:cNvPr id="4" name="Text 2"/>
          <p:cNvSpPr/>
          <p:nvPr/>
        </p:nvSpPr>
        <p:spPr>
          <a:xfrm>
            <a:off x="548640" y="960120"/>
            <a:ext cx="6035040" cy="868680"/>
          </a:xfrm>
          <a:prstGeom prst="rect">
            <a:avLst/>
          </a:prstGeom>
          <a:noFill/>
          <a:ln/>
        </p:spPr>
        <p:txBody>
          <a:bodyPr wrap="square" lIns="0" tIns="0" rIns="0" bIns="0" rtlCol="0" anchor="ctr"/>
          <a:lstStyle/>
          <a:p>
            <a:pPr marL="0" indent="0">
              <a:buNone/>
            </a:pPr>
            <a:r>
              <a:rPr lang="en-US" sz="5400" b="1" dirty="0">
                <a:solidFill>
                  <a:srgbClr val="FFFFFF"/>
                </a:solidFill>
                <a:latin typeface="Georgia" pitchFamily="34" charset="0"/>
                <a:ea typeface="Georgia" pitchFamily="34" charset="-122"/>
                <a:cs typeface="Georgia" pitchFamily="34" charset="-120"/>
              </a:rPr>
              <a:t>DataTalk.AI</a:t>
            </a:r>
            <a:endParaRPr lang="en-US" sz="5400" dirty="0"/>
          </a:p>
        </p:txBody>
      </p:sp>
      <p:sp>
        <p:nvSpPr>
          <p:cNvPr id="5" name="Text 3"/>
          <p:cNvSpPr/>
          <p:nvPr/>
        </p:nvSpPr>
        <p:spPr>
          <a:xfrm>
            <a:off x="548640" y="1874520"/>
            <a:ext cx="5760720" cy="868680"/>
          </a:xfrm>
          <a:prstGeom prst="rect">
            <a:avLst/>
          </a:prstGeom>
          <a:noFill/>
          <a:ln/>
        </p:spPr>
        <p:txBody>
          <a:bodyPr wrap="square" lIns="0" tIns="0" rIns="0" bIns="0" rtlCol="0" anchor="t"/>
          <a:lstStyle/>
          <a:p>
            <a:pPr marL="0" indent="0">
              <a:buNone/>
            </a:pPr>
            <a:r>
              <a:rPr lang="en-US" sz="2000" dirty="0">
                <a:solidFill>
                  <a:srgbClr val="BFD3F2"/>
                </a:solidFill>
                <a:latin typeface="Calibri" pitchFamily="34" charset="0"/>
                <a:ea typeface="Calibri" pitchFamily="34" charset="-122"/>
                <a:cs typeface="Calibri" pitchFamily="34" charset="-120"/>
              </a:rPr>
              <a:t>Ask your Appeals &amp; Grievances data in plain English and get answers you can verify.</a:t>
            </a:r>
            <a:endParaRPr lang="en-US" sz="2000" dirty="0"/>
          </a:p>
        </p:txBody>
      </p:sp>
      <p:sp>
        <p:nvSpPr>
          <p:cNvPr id="6" name="Shape 4"/>
          <p:cNvSpPr/>
          <p:nvPr/>
        </p:nvSpPr>
        <p:spPr>
          <a:xfrm>
            <a:off x="548640" y="3063240"/>
            <a:ext cx="548640" cy="548640"/>
          </a:xfrm>
          <a:prstGeom prst="ellipse">
            <a:avLst/>
          </a:prstGeom>
          <a:solidFill>
            <a:srgbClr val="F59E0B"/>
          </a:solidFill>
          <a:ln w="12700">
            <a:solidFill>
              <a:srgbClr val="F59E0B"/>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696773" y="3211373"/>
            <a:ext cx="252374" cy="252374"/>
          </a:xfrm>
          <a:prstGeom prst="rect">
            <a:avLst/>
          </a:prstGeom>
        </p:spPr>
      </p:pic>
      <p:sp>
        <p:nvSpPr>
          <p:cNvPr id="8" name="Text 5"/>
          <p:cNvSpPr/>
          <p:nvPr/>
        </p:nvSpPr>
        <p:spPr>
          <a:xfrm>
            <a:off x="1280160" y="2999232"/>
            <a:ext cx="50292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problem</a:t>
            </a:r>
            <a:endParaRPr lang="en-US" sz="1500" dirty="0"/>
          </a:p>
        </p:txBody>
      </p:sp>
      <p:sp>
        <p:nvSpPr>
          <p:cNvPr id="9" name="Text 6"/>
          <p:cNvSpPr/>
          <p:nvPr/>
        </p:nvSpPr>
        <p:spPr>
          <a:xfrm>
            <a:off x="1280160" y="3273552"/>
            <a:ext cx="5029200" cy="566928"/>
          </a:xfrm>
          <a:prstGeom prst="rect">
            <a:avLst/>
          </a:prstGeom>
          <a:noFill/>
          <a:ln/>
        </p:spPr>
        <p:txBody>
          <a:bodyPr wrap="square" lIns="0" tIns="0" rIns="0" bIns="0" rtlCol="0" anchor="t"/>
          <a:lstStyle/>
          <a:p>
            <a:r>
              <a:rPr lang="en-US" sz="1200">
                <a:solidFill>
                  <a:srgbClr val="C9D6E3"/>
                </a:solidFill>
                <a:latin typeface="Calibri"/>
                <a:ea typeface="Calibri"/>
                <a:cs typeface="Calibri"/>
              </a:rPr>
              <a:t>Ad-hoc questions about SLA, compliance, overturns and backlog each need an analyst, a query, a chart and a write-up. Dashboards only cover questions someone anticipated.</a:t>
            </a:r>
          </a:p>
          <a:p>
            <a:endParaRPr lang="en-US" sz="1200" dirty="0">
              <a:solidFill>
                <a:srgbClr val="BFD3F2"/>
              </a:solidFill>
              <a:ea typeface="Calibri"/>
              <a:cs typeface="Calibri"/>
            </a:endParaRPr>
          </a:p>
        </p:txBody>
      </p:sp>
      <p:sp>
        <p:nvSpPr>
          <p:cNvPr id="10" name="Shape 7"/>
          <p:cNvSpPr/>
          <p:nvPr/>
        </p:nvSpPr>
        <p:spPr>
          <a:xfrm>
            <a:off x="548640" y="4114800"/>
            <a:ext cx="548640" cy="548640"/>
          </a:xfrm>
          <a:prstGeom prst="ellipse">
            <a:avLst/>
          </a:prstGeom>
          <a:solidFill>
            <a:srgbClr val="0E9F8E"/>
          </a:solidFill>
          <a:ln w="12700">
            <a:solidFill>
              <a:srgbClr val="0E9F8E"/>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96773" y="4262933"/>
            <a:ext cx="252374" cy="252374"/>
          </a:xfrm>
          <a:prstGeom prst="rect">
            <a:avLst/>
          </a:prstGeom>
        </p:spPr>
      </p:pic>
      <p:sp>
        <p:nvSpPr>
          <p:cNvPr id="12" name="Text 8"/>
          <p:cNvSpPr/>
          <p:nvPr/>
        </p:nvSpPr>
        <p:spPr>
          <a:xfrm>
            <a:off x="1280160" y="4050792"/>
            <a:ext cx="50292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Who it is for</a:t>
            </a:r>
            <a:endParaRPr lang="en-US" sz="1500" dirty="0"/>
          </a:p>
        </p:txBody>
      </p:sp>
      <p:sp>
        <p:nvSpPr>
          <p:cNvPr id="13" name="Text 9"/>
          <p:cNvSpPr/>
          <p:nvPr/>
        </p:nvSpPr>
        <p:spPr>
          <a:xfrm>
            <a:off x="1280160" y="4325112"/>
            <a:ext cx="5029200" cy="566928"/>
          </a:xfrm>
          <a:prstGeom prst="rect">
            <a:avLst/>
          </a:prstGeom>
          <a:noFill/>
          <a:ln/>
        </p:spPr>
        <p:txBody>
          <a:bodyPr wrap="square" lIns="0" tIns="0" rIns="0" bIns="0" rtlCol="0" anchor="t"/>
          <a:lstStyle/>
          <a:p>
            <a:r>
              <a:rPr lang="en-US" sz="1200">
                <a:solidFill>
                  <a:srgbClr val="C9D6E3"/>
                </a:solidFill>
                <a:latin typeface="Calibri"/>
                <a:ea typeface="Calibri"/>
                <a:cs typeface="Calibri"/>
              </a:rPr>
              <a:t>Appeals operations leads, compliance and quality teams, business analysts.</a:t>
            </a:r>
          </a:p>
          <a:p>
            <a:pPr marL="0" indent="0">
              <a:buNone/>
            </a:pPr>
            <a:endParaRPr lang="en-US" sz="1200" dirty="0">
              <a:solidFill>
                <a:srgbClr val="BFD3F2"/>
              </a:solidFill>
              <a:ea typeface="Calibri"/>
              <a:cs typeface="Calibri"/>
            </a:endParaRPr>
          </a:p>
        </p:txBody>
      </p:sp>
      <p:sp>
        <p:nvSpPr>
          <p:cNvPr id="14" name="Shape 10"/>
          <p:cNvSpPr/>
          <p:nvPr/>
        </p:nvSpPr>
        <p:spPr>
          <a:xfrm>
            <a:off x="548640" y="5166360"/>
            <a:ext cx="548640" cy="548640"/>
          </a:xfrm>
          <a:prstGeom prst="ellipse">
            <a:avLst/>
          </a:prstGeom>
          <a:solidFill>
            <a:srgbClr val="2563EB"/>
          </a:solidFill>
          <a:ln w="12700">
            <a:solidFill>
              <a:srgbClr val="2563EB"/>
            </a:solidFill>
            <a:prstDash val="solid"/>
          </a:ln>
        </p:spPr>
        <p:txBody>
          <a:bodyPr/>
          <a:lstStyle/>
          <a:p>
            <a:endParaRPr lang="en-US"/>
          </a:p>
        </p:txBody>
      </p:sp>
      <p:pic>
        <p:nvPicPr>
          <p:cNvPr id="15" name="Image 2" descr="preencoded.png"/>
          <p:cNvPicPr>
            <a:picLocks noChangeAspect="1"/>
          </p:cNvPicPr>
          <p:nvPr/>
        </p:nvPicPr>
        <p:blipFill>
          <a:blip r:embed="rId5"/>
          <a:stretch>
            <a:fillRect/>
          </a:stretch>
        </p:blipFill>
        <p:spPr>
          <a:xfrm>
            <a:off x="696773" y="5314493"/>
            <a:ext cx="252374" cy="252374"/>
          </a:xfrm>
          <a:prstGeom prst="rect">
            <a:avLst/>
          </a:prstGeom>
        </p:spPr>
      </p:pic>
      <p:sp>
        <p:nvSpPr>
          <p:cNvPr id="16" name="Text 11"/>
          <p:cNvSpPr/>
          <p:nvPr/>
        </p:nvSpPr>
        <p:spPr>
          <a:xfrm>
            <a:off x="1280160" y="5102352"/>
            <a:ext cx="5029200" cy="27432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The value</a:t>
            </a:r>
            <a:endParaRPr lang="en-US" sz="1500" dirty="0"/>
          </a:p>
        </p:txBody>
      </p:sp>
      <p:sp>
        <p:nvSpPr>
          <p:cNvPr id="17" name="Text 12"/>
          <p:cNvSpPr/>
          <p:nvPr/>
        </p:nvSpPr>
        <p:spPr>
          <a:xfrm>
            <a:off x="1280160" y="5376672"/>
            <a:ext cx="5029200" cy="566928"/>
          </a:xfrm>
          <a:prstGeom prst="rect">
            <a:avLst/>
          </a:prstGeom>
          <a:noFill/>
          <a:ln/>
        </p:spPr>
        <p:txBody>
          <a:bodyPr wrap="square" lIns="0" tIns="0" rIns="0" bIns="0" rtlCol="0" anchor="t"/>
          <a:lstStyle/>
          <a:p>
            <a:r>
              <a:rPr lang="en-US" sz="1200">
                <a:solidFill>
                  <a:srgbClr val="C9D6E3"/>
                </a:solidFill>
                <a:latin typeface="Calibri"/>
                <a:ea typeface="Calibri"/>
                <a:cs typeface="Calibri"/>
              </a:rPr>
              <a:t>Answers from live Databricks data in one place: finding, charts, evidence, recommended actions and the exact SQL. AI interprets; code calculates.</a:t>
            </a:r>
          </a:p>
          <a:p>
            <a:pPr marL="0" indent="0">
              <a:buNone/>
            </a:pPr>
            <a:endParaRPr lang="en-US" sz="1200" dirty="0">
              <a:solidFill>
                <a:srgbClr val="BFD3F2"/>
              </a:solidFill>
              <a:ea typeface="Calibri"/>
              <a:cs typeface="Calibri"/>
            </a:endParaRPr>
          </a:p>
        </p:txBody>
      </p:sp>
      <p:sp>
        <p:nvSpPr>
          <p:cNvPr id="18" name="Shape 13"/>
          <p:cNvSpPr/>
          <p:nvPr/>
        </p:nvSpPr>
        <p:spPr>
          <a:xfrm>
            <a:off x="6903720" y="685800"/>
            <a:ext cx="4754880" cy="5120640"/>
          </a:xfrm>
          <a:prstGeom prst="rect">
            <a:avLst/>
          </a:prstGeom>
          <a:solidFill>
            <a:srgbClr val="FFFFFF"/>
          </a:solidFill>
          <a:ln w="12700">
            <a:solidFill>
              <a:srgbClr val="FFFFFF"/>
            </a:solidFill>
            <a:prstDash val="solid"/>
          </a:ln>
          <a:effectLst>
            <a:outerShdw blurRad="101600" dist="25400" dir="5400000" algn="bl" rotWithShape="0">
              <a:srgbClr val="000000">
                <a:alpha val="12000"/>
              </a:srgbClr>
            </a:outerShdw>
          </a:effectLst>
        </p:spPr>
        <p:txBody>
          <a:bodyPr/>
          <a:lstStyle/>
          <a:p>
            <a:endParaRPr lang="en-US"/>
          </a:p>
        </p:txBody>
      </p:sp>
      <p:sp>
        <p:nvSpPr>
          <p:cNvPr id="19" name="Shape 14"/>
          <p:cNvSpPr/>
          <p:nvPr/>
        </p:nvSpPr>
        <p:spPr>
          <a:xfrm>
            <a:off x="6903720" y="685800"/>
            <a:ext cx="4754880" cy="457200"/>
          </a:xfrm>
          <a:prstGeom prst="rect">
            <a:avLst/>
          </a:prstGeom>
          <a:solidFill>
            <a:srgbClr val="132C4F"/>
          </a:solidFill>
          <a:ln w="12700">
            <a:solidFill>
              <a:srgbClr val="132C4F"/>
            </a:solidFill>
            <a:prstDash val="solid"/>
          </a:ln>
        </p:spPr>
        <p:txBody>
          <a:bodyPr/>
          <a:lstStyle/>
          <a:p>
            <a:endParaRPr lang="en-US"/>
          </a:p>
        </p:txBody>
      </p:sp>
      <p:sp>
        <p:nvSpPr>
          <p:cNvPr id="20" name="Text 15"/>
          <p:cNvSpPr/>
          <p:nvPr/>
        </p:nvSpPr>
        <p:spPr>
          <a:xfrm>
            <a:off x="7086600" y="685800"/>
            <a:ext cx="2743200" cy="45720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 Assistant</a:t>
            </a:r>
            <a:endParaRPr lang="en-US" sz="1400" dirty="0"/>
          </a:p>
        </p:txBody>
      </p:sp>
      <p:sp>
        <p:nvSpPr>
          <p:cNvPr id="21" name="Shape 16"/>
          <p:cNvSpPr/>
          <p:nvPr/>
        </p:nvSpPr>
        <p:spPr>
          <a:xfrm>
            <a:off x="7452360" y="1325880"/>
            <a:ext cx="4069080" cy="713232"/>
          </a:xfrm>
          <a:prstGeom prst="roundRect">
            <a:avLst>
              <a:gd name="adj" fmla="val 15385"/>
            </a:avLst>
          </a:prstGeom>
          <a:solidFill>
            <a:srgbClr val="D7F3EF"/>
          </a:solidFill>
          <a:ln w="12700">
            <a:solidFill>
              <a:srgbClr val="D7F3EF"/>
            </a:solidFill>
            <a:prstDash val="solid"/>
          </a:ln>
        </p:spPr>
        <p:txBody>
          <a:bodyPr/>
          <a:lstStyle/>
          <a:p>
            <a:endParaRPr lang="en-US"/>
          </a:p>
        </p:txBody>
      </p:sp>
      <p:sp>
        <p:nvSpPr>
          <p:cNvPr id="22" name="Text 17"/>
          <p:cNvSpPr/>
          <p:nvPr/>
        </p:nvSpPr>
        <p:spPr>
          <a:xfrm>
            <a:off x="7589520" y="1325880"/>
            <a:ext cx="3840480" cy="713232"/>
          </a:xfrm>
          <a:prstGeom prst="rect">
            <a:avLst/>
          </a:prstGeom>
          <a:noFill/>
          <a:ln/>
        </p:spPr>
        <p:txBody>
          <a:bodyPr wrap="square" lIns="0" tIns="0" rIns="0" bIns="0" rtlCol="0" anchor="ctr"/>
          <a:lstStyle/>
          <a:p>
            <a:pPr marL="0" indent="0">
              <a:buNone/>
            </a:pPr>
            <a:r>
              <a:rPr lang="en-US" sz="1300" dirty="0">
                <a:solidFill>
                  <a:srgbClr val="0F172A"/>
                </a:solidFill>
                <a:latin typeface="Calibri" pitchFamily="34" charset="0"/>
                <a:ea typeface="Calibri" pitchFamily="34" charset="-122"/>
                <a:cs typeface="Calibri" pitchFamily="34" charset="-120"/>
              </a:rPr>
              <a:t>Which operational unit has the best TAT performance?</a:t>
            </a:r>
            <a:endParaRPr lang="en-US" sz="1300" dirty="0"/>
          </a:p>
        </p:txBody>
      </p:sp>
      <p:sp>
        <p:nvSpPr>
          <p:cNvPr id="23" name="Text 18"/>
          <p:cNvSpPr/>
          <p:nvPr/>
        </p:nvSpPr>
        <p:spPr>
          <a:xfrm>
            <a:off x="7132320" y="2212848"/>
            <a:ext cx="4114800" cy="274320"/>
          </a:xfrm>
          <a:prstGeom prst="rect">
            <a:avLst/>
          </a:prstGeom>
          <a:noFill/>
          <a:ln/>
        </p:spPr>
        <p:txBody>
          <a:bodyPr wrap="square" lIns="0" tIns="0" rIns="0" bIns="0" rtlCol="0" anchor="ctr"/>
          <a:lstStyle/>
          <a:p>
            <a:pPr marL="0" indent="0">
              <a:buNone/>
            </a:pPr>
            <a:r>
              <a:rPr lang="en-US" sz="1200" b="1" dirty="0">
                <a:solidFill>
                  <a:srgbClr val="0E9F8E"/>
                </a:solidFill>
                <a:latin typeface="Calibri" pitchFamily="34" charset="0"/>
                <a:ea typeface="Calibri" pitchFamily="34" charset="-122"/>
                <a:cs typeface="Calibri" pitchFamily="34" charset="-120"/>
              </a:rPr>
              <a:t>AI Insight Findings</a:t>
            </a:r>
            <a:endParaRPr lang="en-US" sz="1200" dirty="0"/>
          </a:p>
        </p:txBody>
      </p:sp>
      <p:sp>
        <p:nvSpPr>
          <p:cNvPr id="24" name="Text 19"/>
          <p:cNvSpPr/>
          <p:nvPr/>
        </p:nvSpPr>
        <p:spPr>
          <a:xfrm>
            <a:off x="7132320" y="2487168"/>
            <a:ext cx="4297680" cy="365760"/>
          </a:xfrm>
          <a:prstGeom prst="rect">
            <a:avLst/>
          </a:prstGeom>
          <a:noFill/>
          <a:ln/>
        </p:spPr>
        <p:txBody>
          <a:bodyPr wrap="square" lIns="0" tIns="0" rIns="0" bIns="0" rtlCol="0" anchor="t"/>
          <a:lstStyle/>
          <a:p>
            <a:pPr marL="0" indent="0">
              <a:buNone/>
            </a:pPr>
            <a:r>
              <a:rPr lang="en-US" sz="1200" dirty="0">
                <a:solidFill>
                  <a:srgbClr val="5B6B82"/>
                </a:solidFill>
                <a:latin typeface="Calibri" pitchFamily="34" charset="0"/>
                <a:ea typeface="Calibri" pitchFamily="34" charset="-122"/>
                <a:cs typeface="Calibri" pitchFamily="34" charset="-120"/>
              </a:rPr>
              <a:t>Direct answer in plain English, written from the verified result.</a:t>
            </a:r>
            <a:endParaRPr lang="en-US" sz="1200" dirty="0"/>
          </a:p>
        </p:txBody>
      </p:sp>
      <p:sp>
        <p:nvSpPr>
          <p:cNvPr id="25" name="Shape 20"/>
          <p:cNvSpPr/>
          <p:nvPr/>
        </p:nvSpPr>
        <p:spPr>
          <a:xfrm>
            <a:off x="7132320" y="3017520"/>
            <a:ext cx="3108960" cy="256032"/>
          </a:xfrm>
          <a:prstGeom prst="rect">
            <a:avLst/>
          </a:prstGeom>
          <a:solidFill>
            <a:srgbClr val="0E9F8E"/>
          </a:solidFill>
          <a:ln w="12700">
            <a:solidFill>
              <a:srgbClr val="FFFFFF"/>
            </a:solidFill>
            <a:prstDash val="solid"/>
          </a:ln>
        </p:spPr>
        <p:txBody>
          <a:bodyPr/>
          <a:lstStyle/>
          <a:p>
            <a:endParaRPr lang="en-US"/>
          </a:p>
        </p:txBody>
      </p:sp>
      <p:sp>
        <p:nvSpPr>
          <p:cNvPr id="26" name="Shape 21"/>
          <p:cNvSpPr/>
          <p:nvPr/>
        </p:nvSpPr>
        <p:spPr>
          <a:xfrm>
            <a:off x="7132320" y="3401568"/>
            <a:ext cx="2468880" cy="256032"/>
          </a:xfrm>
          <a:prstGeom prst="rect">
            <a:avLst/>
          </a:prstGeom>
          <a:solidFill>
            <a:srgbClr val="9FB4CF"/>
          </a:solidFill>
          <a:ln w="12700">
            <a:solidFill>
              <a:srgbClr val="FFFFFF"/>
            </a:solidFill>
            <a:prstDash val="solid"/>
          </a:ln>
        </p:spPr>
        <p:txBody>
          <a:bodyPr/>
          <a:lstStyle/>
          <a:p>
            <a:endParaRPr lang="en-US"/>
          </a:p>
        </p:txBody>
      </p:sp>
      <p:sp>
        <p:nvSpPr>
          <p:cNvPr id="27" name="Shape 22"/>
          <p:cNvSpPr/>
          <p:nvPr/>
        </p:nvSpPr>
        <p:spPr>
          <a:xfrm>
            <a:off x="7132320" y="3785616"/>
            <a:ext cx="1828800" cy="256032"/>
          </a:xfrm>
          <a:prstGeom prst="rect">
            <a:avLst/>
          </a:prstGeom>
          <a:solidFill>
            <a:srgbClr val="9FB4CF"/>
          </a:solidFill>
          <a:ln w="12700">
            <a:solidFill>
              <a:srgbClr val="FFFFFF"/>
            </a:solidFill>
            <a:prstDash val="solid"/>
          </a:ln>
        </p:spPr>
        <p:txBody>
          <a:bodyPr/>
          <a:lstStyle/>
          <a:p>
            <a:endParaRPr lang="en-US"/>
          </a:p>
        </p:txBody>
      </p:sp>
      <p:sp>
        <p:nvSpPr>
          <p:cNvPr id="28" name="Shape 23"/>
          <p:cNvSpPr/>
          <p:nvPr/>
        </p:nvSpPr>
        <p:spPr>
          <a:xfrm>
            <a:off x="7132320" y="4169664"/>
            <a:ext cx="1280160" cy="256032"/>
          </a:xfrm>
          <a:prstGeom prst="rect">
            <a:avLst/>
          </a:prstGeom>
          <a:solidFill>
            <a:srgbClr val="9FB4CF"/>
          </a:solidFill>
          <a:ln w="12700">
            <a:solidFill>
              <a:srgbClr val="FFFFFF"/>
            </a:solidFill>
            <a:prstDash val="solid"/>
          </a:ln>
        </p:spPr>
        <p:txBody>
          <a:bodyPr/>
          <a:lstStyle/>
          <a:p>
            <a:endParaRPr lang="en-US"/>
          </a:p>
        </p:txBody>
      </p:sp>
      <p:sp>
        <p:nvSpPr>
          <p:cNvPr id="29" name="Text 24"/>
          <p:cNvSpPr/>
          <p:nvPr/>
        </p:nvSpPr>
        <p:spPr>
          <a:xfrm>
            <a:off x="7132320" y="4553712"/>
            <a:ext cx="2286000" cy="228600"/>
          </a:xfrm>
          <a:prstGeom prst="rect">
            <a:avLst/>
          </a:prstGeom>
          <a:noFill/>
          <a:ln/>
        </p:spPr>
        <p:txBody>
          <a:bodyPr wrap="square" lIns="0" tIns="0" rIns="0" bIns="0" rtlCol="0" anchor="ctr"/>
          <a:lstStyle/>
          <a:p>
            <a:pPr marL="0" indent="0">
              <a:buNone/>
            </a:pPr>
            <a:r>
              <a:rPr lang="en-US" sz="1000" i="1" dirty="0">
                <a:solidFill>
                  <a:srgbClr val="5B6B82"/>
                </a:solidFill>
                <a:latin typeface="Calibri" pitchFamily="34" charset="0"/>
                <a:ea typeface="Calibri" pitchFamily="34" charset="-122"/>
                <a:cs typeface="Calibri" pitchFamily="34" charset="-120"/>
              </a:rPr>
              <a:t>Chart (illustrative)</a:t>
            </a:r>
            <a:endParaRPr lang="en-US" sz="1000" dirty="0"/>
          </a:p>
        </p:txBody>
      </p:sp>
      <p:sp>
        <p:nvSpPr>
          <p:cNvPr id="30" name="Shape 25"/>
          <p:cNvSpPr/>
          <p:nvPr/>
        </p:nvSpPr>
        <p:spPr>
          <a:xfrm>
            <a:off x="7132320" y="4846320"/>
            <a:ext cx="1193292" cy="310896"/>
          </a:xfrm>
          <a:prstGeom prst="roundRect">
            <a:avLst>
              <a:gd name="adj" fmla="val 50000"/>
            </a:avLst>
          </a:prstGeom>
          <a:solidFill>
            <a:srgbClr val="F3F6FA"/>
          </a:solidFill>
          <a:ln w="9525">
            <a:solidFill>
              <a:srgbClr val="D5DDE8"/>
            </a:solidFill>
            <a:prstDash val="solid"/>
          </a:ln>
        </p:spPr>
        <p:txBody>
          <a:bodyPr/>
          <a:lstStyle/>
          <a:p>
            <a:endParaRPr lang="en-US"/>
          </a:p>
        </p:txBody>
      </p:sp>
      <p:sp>
        <p:nvSpPr>
          <p:cNvPr id="31" name="Text 26"/>
          <p:cNvSpPr/>
          <p:nvPr/>
        </p:nvSpPr>
        <p:spPr>
          <a:xfrm>
            <a:off x="7132320" y="4846320"/>
            <a:ext cx="1193292" cy="310896"/>
          </a:xfrm>
          <a:prstGeom prst="rect">
            <a:avLst/>
          </a:prstGeom>
          <a:noFill/>
          <a:ln/>
        </p:spPr>
        <p:txBody>
          <a:bodyPr wrap="square" lIns="0" tIns="0" rIns="0" bIns="0" rtlCol="0" anchor="ctr"/>
          <a:lstStyle/>
          <a:p>
            <a:pPr marL="0" indent="0" algn="ctr">
              <a:buNone/>
            </a:pPr>
            <a:r>
              <a:rPr lang="en-US" sz="1050" dirty="0">
                <a:solidFill>
                  <a:srgbClr val="0F172A"/>
                </a:solidFill>
                <a:latin typeface="Calibri" pitchFamily="34" charset="0"/>
                <a:ea typeface="Calibri" pitchFamily="34" charset="-122"/>
                <a:cs typeface="Calibri" pitchFamily="34" charset="-120"/>
              </a:rPr>
              <a:t>Insight panel</a:t>
            </a:r>
            <a:endParaRPr lang="en-US" sz="1050" dirty="0"/>
          </a:p>
        </p:txBody>
      </p:sp>
      <p:sp>
        <p:nvSpPr>
          <p:cNvPr id="32" name="Shape 27"/>
          <p:cNvSpPr/>
          <p:nvPr/>
        </p:nvSpPr>
        <p:spPr>
          <a:xfrm>
            <a:off x="8435340" y="4846320"/>
            <a:ext cx="1659636" cy="310896"/>
          </a:xfrm>
          <a:prstGeom prst="roundRect">
            <a:avLst>
              <a:gd name="adj" fmla="val 50000"/>
            </a:avLst>
          </a:prstGeom>
          <a:solidFill>
            <a:srgbClr val="F3F6FA"/>
          </a:solidFill>
          <a:ln w="9525">
            <a:solidFill>
              <a:srgbClr val="D5DDE8"/>
            </a:solidFill>
            <a:prstDash val="solid"/>
          </a:ln>
        </p:spPr>
        <p:txBody>
          <a:bodyPr/>
          <a:lstStyle/>
          <a:p>
            <a:endParaRPr lang="en-US"/>
          </a:p>
        </p:txBody>
      </p:sp>
      <p:sp>
        <p:nvSpPr>
          <p:cNvPr id="33" name="Text 28"/>
          <p:cNvSpPr/>
          <p:nvPr/>
        </p:nvSpPr>
        <p:spPr>
          <a:xfrm>
            <a:off x="8435340" y="4846320"/>
            <a:ext cx="1659636" cy="310896"/>
          </a:xfrm>
          <a:prstGeom prst="rect">
            <a:avLst/>
          </a:prstGeom>
          <a:noFill/>
          <a:ln/>
        </p:spPr>
        <p:txBody>
          <a:bodyPr wrap="square" lIns="0" tIns="0" rIns="0" bIns="0" rtlCol="0" anchor="ctr"/>
          <a:lstStyle/>
          <a:p>
            <a:pPr marL="0" indent="0" algn="ctr">
              <a:buNone/>
            </a:pPr>
            <a:r>
              <a:rPr lang="en-US" sz="1050" dirty="0">
                <a:solidFill>
                  <a:srgbClr val="0F172A"/>
                </a:solidFill>
                <a:latin typeface="Calibri" pitchFamily="34" charset="0"/>
                <a:ea typeface="Calibri" pitchFamily="34" charset="-122"/>
                <a:cs typeface="Calibri" pitchFamily="34" charset="-120"/>
              </a:rPr>
              <a:t>Recommended actions</a:t>
            </a:r>
            <a:endParaRPr lang="en-US" sz="1050" dirty="0"/>
          </a:p>
        </p:txBody>
      </p:sp>
      <p:sp>
        <p:nvSpPr>
          <p:cNvPr id="34" name="Shape 29"/>
          <p:cNvSpPr/>
          <p:nvPr/>
        </p:nvSpPr>
        <p:spPr>
          <a:xfrm>
            <a:off x="10204704" y="4846320"/>
            <a:ext cx="882396" cy="310896"/>
          </a:xfrm>
          <a:prstGeom prst="roundRect">
            <a:avLst>
              <a:gd name="adj" fmla="val 50000"/>
            </a:avLst>
          </a:prstGeom>
          <a:solidFill>
            <a:srgbClr val="F3F6FA"/>
          </a:solidFill>
          <a:ln w="9525">
            <a:solidFill>
              <a:srgbClr val="D5DDE8"/>
            </a:solidFill>
            <a:prstDash val="solid"/>
          </a:ln>
        </p:spPr>
        <p:txBody>
          <a:bodyPr/>
          <a:lstStyle/>
          <a:p>
            <a:endParaRPr lang="en-US"/>
          </a:p>
        </p:txBody>
      </p:sp>
      <p:sp>
        <p:nvSpPr>
          <p:cNvPr id="35" name="Text 30"/>
          <p:cNvSpPr/>
          <p:nvPr/>
        </p:nvSpPr>
        <p:spPr>
          <a:xfrm>
            <a:off x="10204704" y="4846320"/>
            <a:ext cx="882396" cy="310896"/>
          </a:xfrm>
          <a:prstGeom prst="rect">
            <a:avLst/>
          </a:prstGeom>
          <a:noFill/>
          <a:ln/>
        </p:spPr>
        <p:txBody>
          <a:bodyPr wrap="square" lIns="0" tIns="0" rIns="0" bIns="0" rtlCol="0" anchor="ctr"/>
          <a:lstStyle/>
          <a:p>
            <a:pPr marL="0" indent="0" algn="ctr">
              <a:buNone/>
            </a:pPr>
            <a:r>
              <a:rPr lang="en-US" sz="1050" dirty="0">
                <a:solidFill>
                  <a:srgbClr val="0F172A"/>
                </a:solidFill>
                <a:latin typeface="Calibri" pitchFamily="34" charset="0"/>
                <a:ea typeface="Calibri" pitchFamily="34" charset="-122"/>
                <a:cs typeface="Calibri" pitchFamily="34" charset="-120"/>
              </a:rPr>
              <a:t>Exact SQL</a:t>
            </a:r>
            <a:endParaRPr lang="en-US" sz="1050" dirty="0"/>
          </a:p>
        </p:txBody>
      </p:sp>
      <p:sp>
        <p:nvSpPr>
          <p:cNvPr id="36" name="Text 31"/>
          <p:cNvSpPr/>
          <p:nvPr/>
        </p:nvSpPr>
        <p:spPr>
          <a:xfrm>
            <a:off x="7132320" y="5321808"/>
            <a:ext cx="4389120" cy="274320"/>
          </a:xfrm>
          <a:prstGeom prst="rect">
            <a:avLst/>
          </a:prstGeom>
          <a:noFill/>
          <a:ln/>
        </p:spPr>
        <p:txBody>
          <a:bodyPr wrap="square" lIns="0" tIns="0" rIns="0" bIns="0" rtlCol="0" anchor="ctr"/>
          <a:lstStyle/>
          <a:p>
            <a:pPr marL="0" indent="0">
              <a:buNone/>
            </a:pPr>
            <a:r>
              <a:rPr lang="en-US" sz="1050" i="1">
                <a:solidFill>
                  <a:srgbClr val="5B6B82"/>
                </a:solidFill>
                <a:latin typeface="Calibri"/>
                <a:ea typeface="Calibri"/>
                <a:cs typeface="Calibri"/>
              </a:rPr>
              <a:t>Illustrative layout of an answer.</a:t>
            </a:r>
            <a:endParaRPr lang="en-US" sz="1050" dirty="0">
              <a:latin typeface="Calibri"/>
              <a:ea typeface="Calibri"/>
              <a:cs typeface="Calibri"/>
            </a:endParaRPr>
          </a:p>
        </p:txBody>
      </p:sp>
      <p:sp>
        <p:nvSpPr>
          <p:cNvPr id="37" name="Text 32"/>
          <p:cNvSpPr/>
          <p:nvPr/>
        </p:nvSpPr>
        <p:spPr>
          <a:xfrm>
            <a:off x="548640" y="6473952"/>
            <a:ext cx="4572000" cy="228600"/>
          </a:xfrm>
          <a:prstGeom prst="rect">
            <a:avLst/>
          </a:prstGeom>
          <a:noFill/>
          <a:ln/>
        </p:spPr>
        <p:txBody>
          <a:bodyPr wrap="square" lIns="0" tIns="0" rIns="0" bIns="0" rtlCol="0" anchor="ctr"/>
          <a:lstStyle/>
          <a:p>
            <a:r>
              <a:rPr lang="en-US" sz="1000">
                <a:solidFill>
                  <a:srgbClr val="BFD3F2"/>
                </a:solidFill>
                <a:latin typeface="Calibri"/>
                <a:ea typeface="Calibri"/>
                <a:cs typeface="Calibri"/>
              </a:rPr>
              <a:t>DataTalk.AI</a:t>
            </a:r>
            <a:endParaRPr lang="en-US" sz="1000" dirty="0">
              <a:solidFill>
                <a:srgbClr val="000000"/>
              </a:solidFill>
              <a:latin typeface="Calibri"/>
              <a:ea typeface="Calibri"/>
              <a:cs typeface="Calibri"/>
            </a:endParaRPr>
          </a:p>
        </p:txBody>
      </p:sp>
      <p:sp>
        <p:nvSpPr>
          <p:cNvPr id="38" name="Text 33"/>
          <p:cNvSpPr/>
          <p:nvPr/>
        </p:nvSpPr>
        <p:spPr>
          <a:xfrm>
            <a:off x="11091672" y="6473952"/>
            <a:ext cx="548640" cy="228600"/>
          </a:xfrm>
          <a:prstGeom prst="rect">
            <a:avLst/>
          </a:prstGeom>
          <a:noFill/>
          <a:ln/>
        </p:spPr>
        <p:txBody>
          <a:bodyPr wrap="square" lIns="0" tIns="0" rIns="0" bIns="0" rtlCol="0" anchor="ctr"/>
          <a:lstStyle/>
          <a:p>
            <a:pPr marL="0" indent="0" algn="r">
              <a:buNone/>
            </a:pPr>
            <a:r>
              <a:rPr lang="en-US" sz="1000" dirty="0">
                <a:solidFill>
                  <a:srgbClr val="BFD3F2"/>
                </a:solidFill>
                <a:latin typeface="Calibri" pitchFamily="34" charset="0"/>
                <a:ea typeface="Calibri" pitchFamily="34" charset="-122"/>
                <a:cs typeface="Calibri" pitchFamily="34" charset="-120"/>
              </a:rPr>
              <a:t>1</a:t>
            </a:r>
            <a:endParaRPr lang="en-US" sz="1000" dirty="0"/>
          </a:p>
        </p:txBody>
      </p:sp>
      <p:sp>
        <p:nvSpPr>
          <p:cNvPr id="41" name="Text 1">
            <a:extLst>
              <a:ext uri="{FF2B5EF4-FFF2-40B4-BE49-F238E27FC236}">
                <a16:creationId xmlns:a16="http://schemas.microsoft.com/office/drawing/2014/main" id="{C25335AB-6737-3B12-2AEE-1365083D77E8}"/>
              </a:ext>
            </a:extLst>
          </p:cNvPr>
          <p:cNvSpPr/>
          <p:nvPr/>
        </p:nvSpPr>
        <p:spPr>
          <a:xfrm>
            <a:off x="609600" y="548640"/>
            <a:ext cx="67056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333" b="1" kern="0" spc="267" dirty="0">
                <a:solidFill>
                  <a:srgbClr val="7DD3C8"/>
                </a:solidFill>
                <a:latin typeface="Calibri" pitchFamily="34" charset="0"/>
                <a:ea typeface="Calibri" pitchFamily="34" charset="-122"/>
                <a:cs typeface="Calibri" pitchFamily="34" charset="-120"/>
              </a:rPr>
              <a:t>PROOF OF CONCEPT · HEALTHCARE APPEALS &amp; GRIEVANCES</a:t>
            </a:r>
            <a:endParaRPr lang="en-US" sz="13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F172A"/>
                </a:solidFill>
                <a:latin typeface="Georgia" pitchFamily="34" charset="0"/>
                <a:ea typeface="Georgia" pitchFamily="34" charset="-122"/>
                <a:cs typeface="Georgia" pitchFamily="34" charset="-120"/>
              </a:rPr>
              <a:t>One question in, a verified answer pack out</a:t>
            </a:r>
            <a:endParaRPr lang="en-US" sz="3200" dirty="0"/>
          </a:p>
        </p:txBody>
      </p:sp>
      <p:sp>
        <p:nvSpPr>
          <p:cNvPr id="3" name="Shape 1"/>
          <p:cNvSpPr/>
          <p:nvPr/>
        </p:nvSpPr>
        <p:spPr>
          <a:xfrm>
            <a:off x="548640" y="14173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4" name="Shape 2"/>
          <p:cNvSpPr/>
          <p:nvPr/>
        </p:nvSpPr>
        <p:spPr>
          <a:xfrm>
            <a:off x="548640" y="1417320"/>
            <a:ext cx="64008" cy="2240280"/>
          </a:xfrm>
          <a:prstGeom prst="rect">
            <a:avLst/>
          </a:prstGeom>
          <a:solidFill>
            <a:srgbClr val="0E9F8E"/>
          </a:solidFill>
          <a:ln w="12700">
            <a:solidFill>
              <a:srgbClr val="0E9F8E"/>
            </a:solidFill>
            <a:prstDash val="solid"/>
          </a:ln>
        </p:spPr>
      </p:sp>
      <p:sp>
        <p:nvSpPr>
          <p:cNvPr id="5" name="Shape 3"/>
          <p:cNvSpPr/>
          <p:nvPr/>
        </p:nvSpPr>
        <p:spPr>
          <a:xfrm>
            <a:off x="822960" y="1673352"/>
            <a:ext cx="566928" cy="566928"/>
          </a:xfrm>
          <a:prstGeom prst="ellipse">
            <a:avLst/>
          </a:prstGeom>
          <a:solidFill>
            <a:srgbClr val="0E9F8E"/>
          </a:solidFill>
          <a:ln w="12700">
            <a:solidFill>
              <a:srgbClr val="0E9F8E"/>
            </a:solidFill>
            <a:prstDash val="solid"/>
          </a:ln>
        </p:spPr>
      </p:sp>
      <p:pic>
        <p:nvPicPr>
          <p:cNvPr id="6" name="Image 0" descr="preencoded.png"/>
          <p:cNvPicPr>
            <a:picLocks noChangeAspect="1"/>
          </p:cNvPicPr>
          <p:nvPr/>
        </p:nvPicPr>
        <p:blipFill>
          <a:blip r:embed="rId3"/>
          <a:stretch>
            <a:fillRect/>
          </a:stretch>
        </p:blipFill>
        <p:spPr>
          <a:xfrm>
            <a:off x="976031" y="1826423"/>
            <a:ext cx="260787" cy="260787"/>
          </a:xfrm>
          <a:prstGeom prst="rect">
            <a:avLst/>
          </a:prstGeom>
        </p:spPr>
      </p:pic>
      <p:sp>
        <p:nvSpPr>
          <p:cNvPr id="7" name="Text 4"/>
          <p:cNvSpPr/>
          <p:nvPr/>
        </p:nvSpPr>
        <p:spPr>
          <a:xfrm>
            <a:off x="822960" y="23317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AI Assistant</a:t>
            </a:r>
            <a:endParaRPr lang="en-US" sz="1500" dirty="0"/>
          </a:p>
        </p:txBody>
      </p:sp>
      <p:sp>
        <p:nvSpPr>
          <p:cNvPr id="8" name="Text 5"/>
          <p:cNvSpPr/>
          <p:nvPr/>
        </p:nvSpPr>
        <p:spPr>
          <a:xfrm>
            <a:off x="822960" y="2715768"/>
            <a:ext cx="1920240" cy="868680"/>
          </a:xfrm>
          <a:prstGeom prst="rect">
            <a:avLst/>
          </a:prstGeom>
          <a:noFill/>
          <a:ln/>
        </p:spPr>
        <p:txBody>
          <a:bodyPr wrap="square" lIns="0" tIns="0" rIns="0" bIns="0" rtlCol="0" anchor="t"/>
          <a:lstStyle/>
          <a:p>
            <a:r>
              <a:rPr lang="en-US" sz="1250">
                <a:solidFill>
                  <a:srgbClr val="5B6B82"/>
                </a:solidFill>
                <a:latin typeface="Calibri"/>
                <a:ea typeface="Calibri"/>
                <a:cs typeface="Calibri"/>
              </a:rPr>
              <a:t>Typed or spoken questions; simple to very complex </a:t>
            </a:r>
            <a:r>
              <a:rPr lang="en-US" sz="1250" dirty="0">
                <a:solidFill>
                  <a:srgbClr val="5B6B82"/>
                </a:solidFill>
                <a:latin typeface="Calibri"/>
                <a:ea typeface="Calibri"/>
                <a:cs typeface="Calibri"/>
              </a:rPr>
              <a:t>questions in one message.</a:t>
            </a:r>
            <a:endParaRPr lang="en-US" sz="1250" dirty="0">
              <a:latin typeface="Calibri"/>
              <a:ea typeface="Calibri"/>
              <a:cs typeface="Calibri"/>
            </a:endParaRPr>
          </a:p>
        </p:txBody>
      </p:sp>
      <p:sp>
        <p:nvSpPr>
          <p:cNvPr id="9" name="Shape 6"/>
          <p:cNvSpPr/>
          <p:nvPr/>
        </p:nvSpPr>
        <p:spPr>
          <a:xfrm>
            <a:off x="3108960" y="14173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10" name="Shape 7"/>
          <p:cNvSpPr/>
          <p:nvPr/>
        </p:nvSpPr>
        <p:spPr>
          <a:xfrm>
            <a:off x="3108960" y="1417320"/>
            <a:ext cx="64008" cy="2240280"/>
          </a:xfrm>
          <a:prstGeom prst="rect">
            <a:avLst/>
          </a:prstGeom>
          <a:solidFill>
            <a:srgbClr val="D97706"/>
          </a:solidFill>
          <a:ln w="12700">
            <a:solidFill>
              <a:srgbClr val="D97706"/>
            </a:solidFill>
            <a:prstDash val="solid"/>
          </a:ln>
        </p:spPr>
      </p:sp>
      <p:sp>
        <p:nvSpPr>
          <p:cNvPr id="11" name="Shape 8"/>
          <p:cNvSpPr/>
          <p:nvPr/>
        </p:nvSpPr>
        <p:spPr>
          <a:xfrm>
            <a:off x="3383280" y="1673352"/>
            <a:ext cx="566928" cy="566928"/>
          </a:xfrm>
          <a:prstGeom prst="ellipse">
            <a:avLst/>
          </a:prstGeom>
          <a:solidFill>
            <a:srgbClr val="D97706"/>
          </a:solidFill>
          <a:ln w="12700">
            <a:solidFill>
              <a:srgbClr val="D97706"/>
            </a:solidFill>
            <a:prstDash val="solid"/>
          </a:ln>
        </p:spPr>
      </p:sp>
      <p:pic>
        <p:nvPicPr>
          <p:cNvPr id="12" name="Image 1" descr="preencoded.png"/>
          <p:cNvPicPr>
            <a:picLocks noChangeAspect="1"/>
          </p:cNvPicPr>
          <p:nvPr/>
        </p:nvPicPr>
        <p:blipFill>
          <a:blip r:embed="rId4"/>
          <a:stretch>
            <a:fillRect/>
          </a:stretch>
        </p:blipFill>
        <p:spPr>
          <a:xfrm>
            <a:off x="3536351" y="1826423"/>
            <a:ext cx="260787" cy="260787"/>
          </a:xfrm>
          <a:prstGeom prst="rect">
            <a:avLst/>
          </a:prstGeom>
        </p:spPr>
      </p:pic>
      <p:sp>
        <p:nvSpPr>
          <p:cNvPr id="13" name="Text 9"/>
          <p:cNvSpPr/>
          <p:nvPr/>
        </p:nvSpPr>
        <p:spPr>
          <a:xfrm>
            <a:off x="3383280" y="23317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Governed SQL</a:t>
            </a:r>
            <a:endParaRPr lang="en-US" sz="1500" dirty="0"/>
          </a:p>
        </p:txBody>
      </p:sp>
      <p:sp>
        <p:nvSpPr>
          <p:cNvPr id="14" name="Text 10"/>
          <p:cNvSpPr/>
          <p:nvPr/>
        </p:nvSpPr>
        <p:spPr>
          <a:xfrm>
            <a:off x="3383280" y="2715768"/>
            <a:ext cx="192024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One read-only query per question, validated before it can run.</a:t>
            </a:r>
            <a:endParaRPr lang="en-US" sz="1250" dirty="0"/>
          </a:p>
        </p:txBody>
      </p:sp>
      <p:sp>
        <p:nvSpPr>
          <p:cNvPr id="15" name="Shape 11"/>
          <p:cNvSpPr/>
          <p:nvPr/>
        </p:nvSpPr>
        <p:spPr>
          <a:xfrm>
            <a:off x="5669280" y="14173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16" name="Shape 12"/>
          <p:cNvSpPr/>
          <p:nvPr/>
        </p:nvSpPr>
        <p:spPr>
          <a:xfrm>
            <a:off x="5669280" y="1417320"/>
            <a:ext cx="64008" cy="2240280"/>
          </a:xfrm>
          <a:prstGeom prst="rect">
            <a:avLst/>
          </a:prstGeom>
          <a:solidFill>
            <a:srgbClr val="7C3AED"/>
          </a:solidFill>
          <a:ln w="12700">
            <a:solidFill>
              <a:srgbClr val="7C3AED"/>
            </a:solidFill>
            <a:prstDash val="solid"/>
          </a:ln>
        </p:spPr>
      </p:sp>
      <p:sp>
        <p:nvSpPr>
          <p:cNvPr id="17" name="Shape 13"/>
          <p:cNvSpPr/>
          <p:nvPr/>
        </p:nvSpPr>
        <p:spPr>
          <a:xfrm>
            <a:off x="5943600" y="1673352"/>
            <a:ext cx="566928" cy="566928"/>
          </a:xfrm>
          <a:prstGeom prst="ellipse">
            <a:avLst/>
          </a:prstGeom>
          <a:solidFill>
            <a:srgbClr val="7C3AED"/>
          </a:solidFill>
          <a:ln w="12700">
            <a:solidFill>
              <a:srgbClr val="7C3AED"/>
            </a:solidFill>
            <a:prstDash val="solid"/>
          </a:ln>
        </p:spPr>
      </p:sp>
      <p:pic>
        <p:nvPicPr>
          <p:cNvPr id="18" name="Image 2" descr="preencoded.png"/>
          <p:cNvPicPr>
            <a:picLocks noChangeAspect="1"/>
          </p:cNvPicPr>
          <p:nvPr/>
        </p:nvPicPr>
        <p:blipFill>
          <a:blip r:embed="rId5"/>
          <a:stretch>
            <a:fillRect/>
          </a:stretch>
        </p:blipFill>
        <p:spPr>
          <a:xfrm>
            <a:off x="6096671" y="1826423"/>
            <a:ext cx="260787" cy="260787"/>
          </a:xfrm>
          <a:prstGeom prst="rect">
            <a:avLst/>
          </a:prstGeom>
        </p:spPr>
      </p:pic>
      <p:sp>
        <p:nvSpPr>
          <p:cNvPr id="19" name="Text 14"/>
          <p:cNvSpPr/>
          <p:nvPr/>
        </p:nvSpPr>
        <p:spPr>
          <a:xfrm>
            <a:off x="5943600" y="23317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Verified insights</a:t>
            </a:r>
            <a:endParaRPr lang="en-US" sz="1500" dirty="0"/>
          </a:p>
        </p:txBody>
      </p:sp>
      <p:sp>
        <p:nvSpPr>
          <p:cNvPr id="20" name="Text 15"/>
          <p:cNvSpPr/>
          <p:nvPr/>
        </p:nvSpPr>
        <p:spPr>
          <a:xfrm>
            <a:off x="5943600" y="2715768"/>
            <a:ext cx="192024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AI wording is kept only when every number traces to the result.</a:t>
            </a:r>
            <a:endParaRPr lang="en-US" sz="1250" dirty="0"/>
          </a:p>
        </p:txBody>
      </p:sp>
      <p:sp>
        <p:nvSpPr>
          <p:cNvPr id="21" name="Shape 16"/>
          <p:cNvSpPr/>
          <p:nvPr/>
        </p:nvSpPr>
        <p:spPr>
          <a:xfrm>
            <a:off x="548640" y="39319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22" name="Shape 17"/>
          <p:cNvSpPr/>
          <p:nvPr/>
        </p:nvSpPr>
        <p:spPr>
          <a:xfrm>
            <a:off x="548640" y="3931920"/>
            <a:ext cx="64008" cy="2240280"/>
          </a:xfrm>
          <a:prstGeom prst="rect">
            <a:avLst/>
          </a:prstGeom>
          <a:solidFill>
            <a:srgbClr val="2563EB"/>
          </a:solidFill>
          <a:ln w="12700">
            <a:solidFill>
              <a:srgbClr val="2563EB"/>
            </a:solidFill>
            <a:prstDash val="solid"/>
          </a:ln>
        </p:spPr>
      </p:sp>
      <p:sp>
        <p:nvSpPr>
          <p:cNvPr id="23" name="Shape 18"/>
          <p:cNvSpPr/>
          <p:nvPr/>
        </p:nvSpPr>
        <p:spPr>
          <a:xfrm>
            <a:off x="822960" y="4187952"/>
            <a:ext cx="566928" cy="566928"/>
          </a:xfrm>
          <a:prstGeom prst="ellipse">
            <a:avLst/>
          </a:prstGeom>
          <a:solidFill>
            <a:srgbClr val="2563EB"/>
          </a:solidFill>
          <a:ln w="12700">
            <a:solidFill>
              <a:srgbClr val="2563EB"/>
            </a:solidFill>
            <a:prstDash val="solid"/>
          </a:ln>
        </p:spPr>
      </p:sp>
      <p:pic>
        <p:nvPicPr>
          <p:cNvPr id="24" name="Image 3" descr="preencoded.png"/>
          <p:cNvPicPr>
            <a:picLocks noChangeAspect="1"/>
          </p:cNvPicPr>
          <p:nvPr/>
        </p:nvPicPr>
        <p:blipFill>
          <a:blip r:embed="rId6"/>
          <a:stretch>
            <a:fillRect/>
          </a:stretch>
        </p:blipFill>
        <p:spPr>
          <a:xfrm>
            <a:off x="976031" y="4341023"/>
            <a:ext cx="260787" cy="260787"/>
          </a:xfrm>
          <a:prstGeom prst="rect">
            <a:avLst/>
          </a:prstGeom>
        </p:spPr>
      </p:pic>
      <p:sp>
        <p:nvSpPr>
          <p:cNvPr id="25" name="Text 19"/>
          <p:cNvSpPr/>
          <p:nvPr/>
        </p:nvSpPr>
        <p:spPr>
          <a:xfrm>
            <a:off x="822960" y="48463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Reconciled charts</a:t>
            </a:r>
            <a:endParaRPr lang="en-US" sz="1500" dirty="0"/>
          </a:p>
        </p:txBody>
      </p:sp>
      <p:sp>
        <p:nvSpPr>
          <p:cNvPr id="26" name="Text 20"/>
          <p:cNvSpPr/>
          <p:nvPr/>
        </p:nvSpPr>
        <p:spPr>
          <a:xfrm>
            <a:off x="822960" y="5230368"/>
            <a:ext cx="192024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Chart type follows the data; plotted values are checked against the table.</a:t>
            </a:r>
            <a:endParaRPr lang="en-US" sz="1250" dirty="0"/>
          </a:p>
        </p:txBody>
      </p:sp>
      <p:sp>
        <p:nvSpPr>
          <p:cNvPr id="27" name="Shape 21"/>
          <p:cNvSpPr/>
          <p:nvPr/>
        </p:nvSpPr>
        <p:spPr>
          <a:xfrm>
            <a:off x="3108960" y="39319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28" name="Shape 22"/>
          <p:cNvSpPr/>
          <p:nvPr/>
        </p:nvSpPr>
        <p:spPr>
          <a:xfrm>
            <a:off x="3108960" y="3931920"/>
            <a:ext cx="64008" cy="2240280"/>
          </a:xfrm>
          <a:prstGeom prst="rect">
            <a:avLst/>
          </a:prstGeom>
          <a:solidFill>
            <a:srgbClr val="059669"/>
          </a:solidFill>
          <a:ln w="12700">
            <a:solidFill>
              <a:srgbClr val="059669"/>
            </a:solidFill>
            <a:prstDash val="solid"/>
          </a:ln>
        </p:spPr>
      </p:sp>
      <p:sp>
        <p:nvSpPr>
          <p:cNvPr id="29" name="Shape 23"/>
          <p:cNvSpPr/>
          <p:nvPr/>
        </p:nvSpPr>
        <p:spPr>
          <a:xfrm>
            <a:off x="3383280" y="4187952"/>
            <a:ext cx="566928" cy="566928"/>
          </a:xfrm>
          <a:prstGeom prst="ellipse">
            <a:avLst/>
          </a:prstGeom>
          <a:solidFill>
            <a:srgbClr val="059669"/>
          </a:solidFill>
          <a:ln w="12700">
            <a:solidFill>
              <a:srgbClr val="059669"/>
            </a:solidFill>
            <a:prstDash val="solid"/>
          </a:ln>
        </p:spPr>
      </p:sp>
      <p:pic>
        <p:nvPicPr>
          <p:cNvPr id="30" name="Image 4" descr="preencoded.png"/>
          <p:cNvPicPr>
            <a:picLocks noChangeAspect="1"/>
          </p:cNvPicPr>
          <p:nvPr/>
        </p:nvPicPr>
        <p:blipFill>
          <a:blip r:embed="rId7"/>
          <a:stretch>
            <a:fillRect/>
          </a:stretch>
        </p:blipFill>
        <p:spPr>
          <a:xfrm>
            <a:off x="3536351" y="4341023"/>
            <a:ext cx="260787" cy="260787"/>
          </a:xfrm>
          <a:prstGeom prst="rect">
            <a:avLst/>
          </a:prstGeom>
        </p:spPr>
      </p:pic>
      <p:sp>
        <p:nvSpPr>
          <p:cNvPr id="31" name="Text 24"/>
          <p:cNvSpPr/>
          <p:nvPr/>
        </p:nvSpPr>
        <p:spPr>
          <a:xfrm>
            <a:off x="3383280" y="48463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Actions + Outlook drafts</a:t>
            </a:r>
            <a:endParaRPr lang="en-US" sz="1500" dirty="0"/>
          </a:p>
        </p:txBody>
      </p:sp>
      <p:sp>
        <p:nvSpPr>
          <p:cNvPr id="32" name="Text 25"/>
          <p:cNvSpPr/>
          <p:nvPr/>
        </p:nvSpPr>
        <p:spPr>
          <a:xfrm>
            <a:off x="3383280" y="5230368"/>
            <a:ext cx="192024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Owner, timeframe and success measure. Drafts are never sent automatically.</a:t>
            </a:r>
            <a:endParaRPr lang="en-US" sz="1250" dirty="0"/>
          </a:p>
        </p:txBody>
      </p:sp>
      <p:sp>
        <p:nvSpPr>
          <p:cNvPr id="33" name="Shape 26"/>
          <p:cNvSpPr/>
          <p:nvPr/>
        </p:nvSpPr>
        <p:spPr>
          <a:xfrm>
            <a:off x="5669280" y="3931920"/>
            <a:ext cx="2331720" cy="2240280"/>
          </a:xfrm>
          <a:prstGeom prst="rect">
            <a:avLst/>
          </a:prstGeom>
          <a:solidFill>
            <a:srgbClr val="FFFFFF"/>
          </a:solidFill>
          <a:ln w="9525">
            <a:solidFill>
              <a:srgbClr val="D5DDE8"/>
            </a:solidFill>
            <a:prstDash val="solid"/>
          </a:ln>
          <a:effectLst>
            <a:outerShdw blurRad="101600" dist="25400" dir="5400000" algn="bl" rotWithShape="0">
              <a:srgbClr val="000000">
                <a:alpha val="12000"/>
              </a:srgbClr>
            </a:outerShdw>
          </a:effectLst>
        </p:spPr>
      </p:sp>
      <p:sp>
        <p:nvSpPr>
          <p:cNvPr id="34" name="Shape 27"/>
          <p:cNvSpPr/>
          <p:nvPr/>
        </p:nvSpPr>
        <p:spPr>
          <a:xfrm>
            <a:off x="5669280" y="3931920"/>
            <a:ext cx="64008" cy="2240280"/>
          </a:xfrm>
          <a:prstGeom prst="rect">
            <a:avLst/>
          </a:prstGeom>
          <a:solidFill>
            <a:srgbClr val="0891B2"/>
          </a:solidFill>
          <a:ln w="12700">
            <a:solidFill>
              <a:srgbClr val="0891B2"/>
            </a:solidFill>
            <a:prstDash val="solid"/>
          </a:ln>
        </p:spPr>
      </p:sp>
      <p:sp>
        <p:nvSpPr>
          <p:cNvPr id="35" name="Shape 28"/>
          <p:cNvSpPr/>
          <p:nvPr/>
        </p:nvSpPr>
        <p:spPr>
          <a:xfrm>
            <a:off x="5943600" y="4187952"/>
            <a:ext cx="566928" cy="566928"/>
          </a:xfrm>
          <a:prstGeom prst="ellipse">
            <a:avLst/>
          </a:prstGeom>
          <a:solidFill>
            <a:srgbClr val="0891B2"/>
          </a:solidFill>
          <a:ln w="12700">
            <a:solidFill>
              <a:srgbClr val="0891B2"/>
            </a:solidFill>
            <a:prstDash val="solid"/>
          </a:ln>
        </p:spPr>
      </p:sp>
      <p:pic>
        <p:nvPicPr>
          <p:cNvPr id="36" name="Image 5" descr="preencoded.png"/>
          <p:cNvPicPr>
            <a:picLocks noChangeAspect="1"/>
          </p:cNvPicPr>
          <p:nvPr/>
        </p:nvPicPr>
        <p:blipFill>
          <a:blip r:embed="rId8"/>
          <a:stretch>
            <a:fillRect/>
          </a:stretch>
        </p:blipFill>
        <p:spPr>
          <a:xfrm>
            <a:off x="6096671" y="4341023"/>
            <a:ext cx="260787" cy="260787"/>
          </a:xfrm>
          <a:prstGeom prst="rect">
            <a:avLst/>
          </a:prstGeom>
        </p:spPr>
      </p:pic>
      <p:sp>
        <p:nvSpPr>
          <p:cNvPr id="37" name="Text 29"/>
          <p:cNvSpPr/>
          <p:nvPr/>
        </p:nvSpPr>
        <p:spPr>
          <a:xfrm>
            <a:off x="5943600" y="4846320"/>
            <a:ext cx="1920240" cy="365760"/>
          </a:xfrm>
          <a:prstGeom prst="rect">
            <a:avLst/>
          </a:prstGeom>
          <a:noFill/>
          <a:ln/>
        </p:spPr>
        <p:txBody>
          <a:bodyPr wrap="square" lIns="0" tIns="0" rIns="0" bIns="0" rtlCol="0" anchor="t"/>
          <a:lstStyle/>
          <a:p>
            <a:pPr marL="0" indent="0">
              <a:buNone/>
            </a:pPr>
            <a:r>
              <a:rPr lang="en-US" sz="1500" b="1" dirty="0">
                <a:solidFill>
                  <a:srgbClr val="0F172A"/>
                </a:solidFill>
                <a:latin typeface="Calibri" pitchFamily="34" charset="0"/>
                <a:ea typeface="Calibri" pitchFamily="34" charset="-122"/>
                <a:cs typeface="Calibri" pitchFamily="34" charset="-120"/>
              </a:rPr>
              <a:t>Dashboards</a:t>
            </a:r>
            <a:endParaRPr lang="en-US" sz="1500" dirty="0"/>
          </a:p>
        </p:txBody>
      </p:sp>
      <p:sp>
        <p:nvSpPr>
          <p:cNvPr id="38" name="Text 30"/>
          <p:cNvSpPr/>
          <p:nvPr/>
        </p:nvSpPr>
        <p:spPr>
          <a:xfrm>
            <a:off x="5943600" y="5230368"/>
            <a:ext cx="1920240" cy="868680"/>
          </a:xfrm>
          <a:prstGeom prst="rect">
            <a:avLst/>
          </a:prstGeom>
          <a:noFill/>
          <a:ln/>
        </p:spPr>
        <p:txBody>
          <a:bodyPr wrap="square" lIns="0" tIns="0" rIns="0" bIns="0" rtlCol="0" anchor="t"/>
          <a:lstStyle/>
          <a:p>
            <a:pPr marL="0" indent="0">
              <a:buNone/>
            </a:pPr>
            <a:r>
              <a:rPr lang="en-US" sz="1250" dirty="0">
                <a:solidFill>
                  <a:srgbClr val="5B6B82"/>
                </a:solidFill>
                <a:latin typeface="Calibri" pitchFamily="34" charset="0"/>
                <a:ea typeface="Calibri" pitchFamily="34" charset="-122"/>
                <a:cs typeface="Calibri" pitchFamily="34" charset="-120"/>
              </a:rPr>
              <a:t>Deep Dive, Intelligence, Risk &amp; Findings, Data Explorer, plus no-AI quick actions such as forecast and anomaly scan.</a:t>
            </a:r>
            <a:endParaRPr lang="en-US" sz="1250" dirty="0"/>
          </a:p>
        </p:txBody>
      </p:sp>
      <p:sp>
        <p:nvSpPr>
          <p:cNvPr id="39" name="Shape 31"/>
          <p:cNvSpPr/>
          <p:nvPr/>
        </p:nvSpPr>
        <p:spPr>
          <a:xfrm>
            <a:off x="8321040" y="1417320"/>
            <a:ext cx="3337560" cy="4754880"/>
          </a:xfrm>
          <a:prstGeom prst="rect">
            <a:avLst/>
          </a:prstGeom>
          <a:solidFill>
            <a:srgbClr val="0B1F3A"/>
          </a:solidFill>
          <a:ln w="12700">
            <a:solidFill>
              <a:srgbClr val="0B1F3A"/>
            </a:solidFill>
            <a:prstDash val="solid"/>
          </a:ln>
        </p:spPr>
      </p:sp>
      <p:sp>
        <p:nvSpPr>
          <p:cNvPr id="40" name="Text 32"/>
          <p:cNvSpPr/>
          <p:nvPr/>
        </p:nvSpPr>
        <p:spPr>
          <a:xfrm>
            <a:off x="8595360" y="1618488"/>
            <a:ext cx="2880360" cy="365760"/>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Try asking</a:t>
            </a:r>
            <a:endParaRPr lang="en-US" sz="1800" dirty="0"/>
          </a:p>
        </p:txBody>
      </p:sp>
      <p:sp>
        <p:nvSpPr>
          <p:cNvPr id="41" name="Text 33"/>
          <p:cNvSpPr/>
          <p:nvPr/>
        </p:nvSpPr>
        <p:spPr>
          <a:xfrm>
            <a:off x="8595360" y="1984248"/>
            <a:ext cx="2880360" cy="256032"/>
          </a:xfrm>
          <a:prstGeom prst="rect">
            <a:avLst/>
          </a:prstGeom>
          <a:noFill/>
          <a:ln/>
        </p:spPr>
        <p:txBody>
          <a:bodyPr wrap="square" lIns="0" tIns="0" rIns="0" bIns="0" rtlCol="0" anchor="ctr"/>
          <a:lstStyle/>
          <a:p>
            <a:pPr marL="0" indent="0">
              <a:buNone/>
            </a:pPr>
            <a:r>
              <a:rPr lang="en-US" sz="1100" i="1" dirty="0">
                <a:solidFill>
                  <a:srgbClr val="BFD3F2"/>
                </a:solidFill>
                <a:latin typeface="Calibri" pitchFamily="34" charset="0"/>
                <a:ea typeface="Calibri" pitchFamily="34" charset="-122"/>
                <a:cs typeface="Calibri" pitchFamily="34" charset="-120"/>
              </a:rPr>
              <a:t>Built-in example questions</a:t>
            </a:r>
            <a:endParaRPr lang="en-US" sz="1100" dirty="0"/>
          </a:p>
        </p:txBody>
      </p:sp>
      <p:sp>
        <p:nvSpPr>
          <p:cNvPr id="42" name="Text 34"/>
          <p:cNvSpPr/>
          <p:nvPr/>
        </p:nvSpPr>
        <p:spPr>
          <a:xfrm>
            <a:off x="8595360" y="2377440"/>
            <a:ext cx="2834640" cy="24688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Which operational unit has the best TAT performance?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Which plan sponsor has high appeal volume but also a high overturn rate?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Which provider has the highest appeal volume and what is its overturn rate?</a:t>
            </a:r>
            <a:endParaRPr lang="en-US" sz="1300" dirty="0"/>
          </a:p>
          <a:p>
            <a:pPr marL="342900" indent="-342900">
              <a:spcAft>
                <a:spcPts val="800"/>
              </a:spcAft>
              <a:buSzPct val="100000"/>
              <a:buChar char="•"/>
            </a:pPr>
            <a:r>
              <a:rPr lang="en-US" sz="1300" dirty="0">
                <a:solidFill>
                  <a:srgbClr val="FFFFFF"/>
                </a:solidFill>
                <a:latin typeface="Calibri" pitchFamily="34" charset="0"/>
                <a:ea typeface="Calibri" pitchFamily="34" charset="-122"/>
                <a:cs typeface="Calibri" pitchFamily="34" charset="-120"/>
              </a:rPr>
              <a:t>How many appeals were received each month?</a:t>
            </a:r>
            <a:endParaRPr lang="en-US" sz="1300" dirty="0"/>
          </a:p>
        </p:txBody>
      </p:sp>
      <p:sp>
        <p:nvSpPr>
          <p:cNvPr id="43" name="Shape 35"/>
          <p:cNvSpPr/>
          <p:nvPr/>
        </p:nvSpPr>
        <p:spPr>
          <a:xfrm>
            <a:off x="8595360" y="4937760"/>
            <a:ext cx="2788920" cy="9144"/>
          </a:xfrm>
          <a:prstGeom prst="rect">
            <a:avLst/>
          </a:prstGeom>
          <a:solidFill>
            <a:srgbClr val="BFD3F2"/>
          </a:solidFill>
          <a:ln w="12700">
            <a:solidFill>
              <a:srgbClr val="BFD3F2"/>
            </a:solidFill>
            <a:prstDash val="solid"/>
          </a:ln>
        </p:spPr>
      </p:sp>
      <p:sp>
        <p:nvSpPr>
          <p:cNvPr id="44" name="Text 36"/>
          <p:cNvSpPr/>
          <p:nvPr/>
        </p:nvSpPr>
        <p:spPr>
          <a:xfrm>
            <a:off x="8595360" y="5074920"/>
            <a:ext cx="2880360" cy="274320"/>
          </a:xfrm>
          <a:prstGeom prst="rect">
            <a:avLst/>
          </a:prstGeom>
          <a:noFill/>
          <a:ln/>
        </p:spPr>
        <p:txBody>
          <a:bodyPr wrap="square" lIns="0" tIns="0" rIns="0" bIns="0" rtlCol="0" anchor="ctr"/>
          <a:lstStyle/>
          <a:p>
            <a:pPr marL="0" indent="0">
              <a:buNone/>
            </a:pPr>
            <a:r>
              <a:rPr lang="en-US" sz="1200" b="1" dirty="0">
                <a:solidFill>
                  <a:srgbClr val="F59E0B"/>
                </a:solidFill>
                <a:latin typeface="Calibri" pitchFamily="34" charset="0"/>
                <a:ea typeface="Calibri" pitchFamily="34" charset="-122"/>
                <a:cs typeface="Calibri" pitchFamily="34" charset="-120"/>
              </a:rPr>
              <a:t>One-click quick actions</a:t>
            </a:r>
            <a:endParaRPr lang="en-US" sz="1200" dirty="0"/>
          </a:p>
        </p:txBody>
      </p:sp>
      <p:sp>
        <p:nvSpPr>
          <p:cNvPr id="45" name="Text 37"/>
          <p:cNvSpPr/>
          <p:nvPr/>
        </p:nvSpPr>
        <p:spPr>
          <a:xfrm>
            <a:off x="8595360" y="5367528"/>
            <a:ext cx="2880360" cy="548640"/>
          </a:xfrm>
          <a:prstGeom prst="rect">
            <a:avLst/>
          </a:prstGeom>
          <a:noFill/>
          <a:ln/>
        </p:spPr>
        <p:txBody>
          <a:bodyPr wrap="square" lIns="0" tIns="0" rIns="0" bIns="0" rtlCol="0" anchor="t"/>
          <a:lstStyle/>
          <a:p>
            <a:pPr marL="0" indent="0">
              <a:buNone/>
            </a:pPr>
            <a:r>
              <a:rPr lang="en-US" sz="1200" dirty="0">
                <a:solidFill>
                  <a:srgbClr val="BFD3F2"/>
                </a:solidFill>
                <a:latin typeface="Calibri" pitchFamily="34" charset="0"/>
                <a:ea typeface="Calibri" pitchFamily="34" charset="-122"/>
                <a:cs typeface="Calibri" pitchFamily="34" charset="-120"/>
              </a:rPr>
              <a:t>Forecast · Anomalies · Overdue · Sponsors · Compare two sites</a:t>
            </a:r>
            <a:endParaRPr lang="en-US" sz="1200" dirty="0"/>
          </a:p>
        </p:txBody>
      </p:sp>
      <p:sp>
        <p:nvSpPr>
          <p:cNvPr id="46" name="Text 38"/>
          <p:cNvSpPr/>
          <p:nvPr/>
        </p:nvSpPr>
        <p:spPr>
          <a:xfrm>
            <a:off x="548640" y="6473952"/>
            <a:ext cx="4572000" cy="228600"/>
          </a:xfrm>
          <a:prstGeom prst="rect">
            <a:avLst/>
          </a:prstGeom>
          <a:noFill/>
          <a:ln/>
        </p:spPr>
        <p:txBody>
          <a:bodyPr wrap="square" lIns="0" tIns="0" rIns="0" bIns="0" rtlCol="0" anchor="ctr"/>
          <a:lstStyle/>
          <a:p>
            <a:pPr marL="0" indent="0">
              <a:buNone/>
            </a:pPr>
            <a:r>
              <a:rPr lang="en-US" sz="1000">
                <a:solidFill>
                  <a:srgbClr val="5B6B82"/>
                </a:solidFill>
                <a:latin typeface="Calibri"/>
                <a:ea typeface="Calibri"/>
                <a:cs typeface="Calibri"/>
              </a:rPr>
              <a:t>DataTalk.AI</a:t>
            </a:r>
            <a:endParaRPr lang="en-US" sz="1000">
              <a:latin typeface="Calibri"/>
              <a:ea typeface="Calibri"/>
              <a:cs typeface="Calibri"/>
            </a:endParaRPr>
          </a:p>
        </p:txBody>
      </p:sp>
      <p:sp>
        <p:nvSpPr>
          <p:cNvPr id="47" name="Text 39"/>
          <p:cNvSpPr/>
          <p:nvPr/>
        </p:nvSpPr>
        <p:spPr>
          <a:xfrm>
            <a:off x="11091672" y="6473952"/>
            <a:ext cx="54864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09600" y="390144"/>
            <a:ext cx="109728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67" b="1" kern="0" spc="400" dirty="0">
                <a:solidFill>
                  <a:srgbClr val="0F766E"/>
                </a:solidFill>
                <a:latin typeface="Calibri" pitchFamily="34" charset="0"/>
                <a:ea typeface="Calibri" pitchFamily="34" charset="-122"/>
                <a:cs typeface="Calibri" pitchFamily="34" charset="-120"/>
              </a:rPr>
              <a:t>END-TO-END WORKFLOW</a:t>
            </a:r>
            <a:endParaRPr lang="en-US" sz="1467" dirty="0"/>
          </a:p>
        </p:txBody>
      </p:sp>
      <p:sp>
        <p:nvSpPr>
          <p:cNvPr id="3" name="Text 1"/>
          <p:cNvSpPr/>
          <p:nvPr/>
        </p:nvSpPr>
        <p:spPr>
          <a:xfrm>
            <a:off x="609600" y="707136"/>
            <a:ext cx="10972800" cy="73152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3200" b="1" dirty="0">
                <a:solidFill>
                  <a:srgbClr val="0F172A"/>
                </a:solidFill>
                <a:latin typeface="Georgia"/>
                <a:ea typeface="Trebuchet MS" pitchFamily="34" charset="-122"/>
                <a:cs typeface="Trebuchet MS" pitchFamily="34" charset="-120"/>
              </a:rPr>
              <a:t>From question to verified answer in six steps</a:t>
            </a:r>
            <a:endParaRPr lang="en-US" sz="3200">
              <a:latin typeface="Georgia"/>
            </a:endParaRPr>
          </a:p>
        </p:txBody>
      </p:sp>
      <p:sp>
        <p:nvSpPr>
          <p:cNvPr id="4" name="Shape 2"/>
          <p:cNvSpPr/>
          <p:nvPr/>
        </p:nvSpPr>
        <p:spPr>
          <a:xfrm>
            <a:off x="609600" y="1889760"/>
            <a:ext cx="1658112" cy="2377440"/>
          </a:xfrm>
          <a:prstGeom prst="rect">
            <a:avLst/>
          </a:prstGeom>
          <a:solidFill>
            <a:srgbClr val="DBEAFE"/>
          </a:solidFill>
          <a:ln w="12700">
            <a:solidFill>
              <a:srgbClr val="1D4ED8"/>
            </a:solidFill>
            <a:prstDash val="solid"/>
          </a:ln>
        </p:spPr>
      </p:sp>
      <p:sp>
        <p:nvSpPr>
          <p:cNvPr id="5" name="Shape 3"/>
          <p:cNvSpPr/>
          <p:nvPr/>
        </p:nvSpPr>
        <p:spPr>
          <a:xfrm>
            <a:off x="768096" y="2072640"/>
            <a:ext cx="512064" cy="512064"/>
          </a:xfrm>
          <a:prstGeom prst="ellipse">
            <a:avLst/>
          </a:prstGeom>
          <a:solidFill>
            <a:srgbClr val="1D4ED8"/>
          </a:solidFill>
          <a:ln/>
        </p:spPr>
      </p:sp>
      <p:sp>
        <p:nvSpPr>
          <p:cNvPr id="6" name="Text 4"/>
          <p:cNvSpPr/>
          <p:nvPr/>
        </p:nvSpPr>
        <p:spPr>
          <a:xfrm>
            <a:off x="768096"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1</a:t>
            </a:r>
            <a:endParaRPr lang="en-US" sz="2000" dirty="0"/>
          </a:p>
        </p:txBody>
      </p:sp>
      <p:sp>
        <p:nvSpPr>
          <p:cNvPr id="7" name="Text 5"/>
          <p:cNvSpPr/>
          <p:nvPr/>
        </p:nvSpPr>
        <p:spPr>
          <a:xfrm>
            <a:off x="768096"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Ask</a:t>
            </a:r>
            <a:endParaRPr lang="en-US" sz="1800" dirty="0"/>
          </a:p>
        </p:txBody>
      </p:sp>
      <p:sp>
        <p:nvSpPr>
          <p:cNvPr id="8" name="Text 6"/>
          <p:cNvSpPr/>
          <p:nvPr/>
        </p:nvSpPr>
        <p:spPr>
          <a:xfrm>
            <a:off x="768096"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Type, speak or pick an example question</a:t>
            </a:r>
            <a:endParaRPr lang="en-US" sz="1400" dirty="0"/>
          </a:p>
        </p:txBody>
      </p:sp>
      <p:sp>
        <p:nvSpPr>
          <p:cNvPr id="9" name="Shape 7"/>
          <p:cNvSpPr/>
          <p:nvPr/>
        </p:nvSpPr>
        <p:spPr>
          <a:xfrm rot="5400000">
            <a:off x="2304288" y="2980944"/>
            <a:ext cx="134112" cy="195072"/>
          </a:xfrm>
          <a:prstGeom prst="triangle">
            <a:avLst/>
          </a:prstGeom>
          <a:solidFill>
            <a:srgbClr val="94A3B8"/>
          </a:solidFill>
          <a:ln/>
        </p:spPr>
      </p:sp>
      <p:sp>
        <p:nvSpPr>
          <p:cNvPr id="10" name="Shape 8"/>
          <p:cNvSpPr/>
          <p:nvPr/>
        </p:nvSpPr>
        <p:spPr>
          <a:xfrm>
            <a:off x="2472537" y="1889760"/>
            <a:ext cx="1658112" cy="2377440"/>
          </a:xfrm>
          <a:prstGeom prst="rect">
            <a:avLst/>
          </a:prstGeom>
          <a:solidFill>
            <a:srgbClr val="DBEAFE"/>
          </a:solidFill>
          <a:ln w="12700">
            <a:solidFill>
              <a:srgbClr val="1D4ED8"/>
            </a:solidFill>
            <a:prstDash val="solid"/>
          </a:ln>
        </p:spPr>
      </p:sp>
      <p:sp>
        <p:nvSpPr>
          <p:cNvPr id="11" name="Shape 9"/>
          <p:cNvSpPr/>
          <p:nvPr/>
        </p:nvSpPr>
        <p:spPr>
          <a:xfrm>
            <a:off x="2631033" y="2072640"/>
            <a:ext cx="512064" cy="512064"/>
          </a:xfrm>
          <a:prstGeom prst="ellipse">
            <a:avLst/>
          </a:prstGeom>
          <a:solidFill>
            <a:srgbClr val="1D4ED8"/>
          </a:solidFill>
          <a:ln/>
        </p:spPr>
      </p:sp>
      <p:sp>
        <p:nvSpPr>
          <p:cNvPr id="12" name="Text 10"/>
          <p:cNvSpPr/>
          <p:nvPr/>
        </p:nvSpPr>
        <p:spPr>
          <a:xfrm>
            <a:off x="2631033"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2</a:t>
            </a:r>
            <a:endParaRPr lang="en-US" sz="2000" dirty="0"/>
          </a:p>
        </p:txBody>
      </p:sp>
      <p:sp>
        <p:nvSpPr>
          <p:cNvPr id="13" name="Text 11"/>
          <p:cNvSpPr/>
          <p:nvPr/>
        </p:nvSpPr>
        <p:spPr>
          <a:xfrm>
            <a:off x="2631033"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Route</a:t>
            </a:r>
            <a:endParaRPr lang="en-US" sz="1800" dirty="0"/>
          </a:p>
        </p:txBody>
      </p:sp>
      <p:sp>
        <p:nvSpPr>
          <p:cNvPr id="14" name="Text 12"/>
          <p:cNvSpPr/>
          <p:nvPr/>
        </p:nvSpPr>
        <p:spPr>
          <a:xfrm>
            <a:off x="2631033"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Checks the input; quick actions skip the AI</a:t>
            </a:r>
            <a:endParaRPr lang="en-US" sz="1400" dirty="0"/>
          </a:p>
        </p:txBody>
      </p:sp>
      <p:sp>
        <p:nvSpPr>
          <p:cNvPr id="15" name="Shape 13"/>
          <p:cNvSpPr/>
          <p:nvPr/>
        </p:nvSpPr>
        <p:spPr>
          <a:xfrm rot="5400000">
            <a:off x="4167225" y="2980944"/>
            <a:ext cx="134112" cy="195072"/>
          </a:xfrm>
          <a:prstGeom prst="triangle">
            <a:avLst/>
          </a:prstGeom>
          <a:solidFill>
            <a:srgbClr val="94A3B8"/>
          </a:solidFill>
          <a:ln/>
        </p:spPr>
      </p:sp>
      <p:sp>
        <p:nvSpPr>
          <p:cNvPr id="16" name="Shape 14"/>
          <p:cNvSpPr/>
          <p:nvPr/>
        </p:nvSpPr>
        <p:spPr>
          <a:xfrm>
            <a:off x="4335475" y="1889760"/>
            <a:ext cx="1658112" cy="2377440"/>
          </a:xfrm>
          <a:prstGeom prst="rect">
            <a:avLst/>
          </a:prstGeom>
          <a:solidFill>
            <a:srgbClr val="EDE9FE"/>
          </a:solidFill>
          <a:ln w="12700">
            <a:solidFill>
              <a:srgbClr val="6D28D9"/>
            </a:solidFill>
            <a:prstDash val="solid"/>
          </a:ln>
        </p:spPr>
      </p:sp>
      <p:sp>
        <p:nvSpPr>
          <p:cNvPr id="17" name="Shape 15"/>
          <p:cNvSpPr/>
          <p:nvPr/>
        </p:nvSpPr>
        <p:spPr>
          <a:xfrm>
            <a:off x="4493971" y="2072640"/>
            <a:ext cx="512064" cy="512064"/>
          </a:xfrm>
          <a:prstGeom prst="ellipse">
            <a:avLst/>
          </a:prstGeom>
          <a:solidFill>
            <a:srgbClr val="6D28D9"/>
          </a:solidFill>
          <a:ln/>
        </p:spPr>
      </p:sp>
      <p:sp>
        <p:nvSpPr>
          <p:cNvPr id="18" name="Text 16"/>
          <p:cNvSpPr/>
          <p:nvPr/>
        </p:nvSpPr>
        <p:spPr>
          <a:xfrm>
            <a:off x="4493971"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3</a:t>
            </a:r>
            <a:endParaRPr lang="en-US" sz="2000" dirty="0"/>
          </a:p>
        </p:txBody>
      </p:sp>
      <p:sp>
        <p:nvSpPr>
          <p:cNvPr id="19" name="Text 17"/>
          <p:cNvSpPr/>
          <p:nvPr/>
        </p:nvSpPr>
        <p:spPr>
          <a:xfrm>
            <a:off x="5408371" y="2133600"/>
            <a:ext cx="438912" cy="292608"/>
          </a:xfrm>
          <a:prstGeom prst="rect">
            <a:avLst/>
          </a:prstGeom>
          <a:solidFill>
            <a:srgbClr val="6D28D9"/>
          </a:solid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20" name="Text 18"/>
          <p:cNvSpPr/>
          <p:nvPr/>
        </p:nvSpPr>
        <p:spPr>
          <a:xfrm>
            <a:off x="4493971"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Plan</a:t>
            </a:r>
            <a:endParaRPr lang="en-US" sz="1800" dirty="0"/>
          </a:p>
        </p:txBody>
      </p:sp>
      <p:sp>
        <p:nvSpPr>
          <p:cNvPr id="21" name="Text 19"/>
          <p:cNvSpPr/>
          <p:nvPr/>
        </p:nvSpPr>
        <p:spPr>
          <a:xfrm>
            <a:off x="4493971"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AI splits the message into sub-questions</a:t>
            </a:r>
            <a:endParaRPr lang="en-US" sz="1400" dirty="0"/>
          </a:p>
        </p:txBody>
      </p:sp>
      <p:sp>
        <p:nvSpPr>
          <p:cNvPr id="22" name="Shape 20"/>
          <p:cNvSpPr/>
          <p:nvPr/>
        </p:nvSpPr>
        <p:spPr>
          <a:xfrm rot="5400000">
            <a:off x="6030163" y="2980944"/>
            <a:ext cx="134112" cy="195072"/>
          </a:xfrm>
          <a:prstGeom prst="triangle">
            <a:avLst/>
          </a:prstGeom>
          <a:solidFill>
            <a:srgbClr val="94A3B8"/>
          </a:solidFill>
          <a:ln/>
        </p:spPr>
      </p:sp>
      <p:sp>
        <p:nvSpPr>
          <p:cNvPr id="23" name="Shape 21"/>
          <p:cNvSpPr/>
          <p:nvPr/>
        </p:nvSpPr>
        <p:spPr>
          <a:xfrm>
            <a:off x="6198413" y="1889760"/>
            <a:ext cx="1658112" cy="2377440"/>
          </a:xfrm>
          <a:prstGeom prst="rect">
            <a:avLst/>
          </a:prstGeom>
          <a:solidFill>
            <a:srgbClr val="EDE9FE"/>
          </a:solidFill>
          <a:ln w="12700">
            <a:solidFill>
              <a:srgbClr val="6D28D9"/>
            </a:solidFill>
            <a:prstDash val="solid"/>
          </a:ln>
        </p:spPr>
      </p:sp>
      <p:sp>
        <p:nvSpPr>
          <p:cNvPr id="24" name="Shape 22"/>
          <p:cNvSpPr/>
          <p:nvPr/>
        </p:nvSpPr>
        <p:spPr>
          <a:xfrm>
            <a:off x="6356909" y="2072640"/>
            <a:ext cx="512064" cy="512064"/>
          </a:xfrm>
          <a:prstGeom prst="ellipse">
            <a:avLst/>
          </a:prstGeom>
          <a:solidFill>
            <a:srgbClr val="6D28D9"/>
          </a:solidFill>
          <a:ln/>
        </p:spPr>
      </p:sp>
      <p:sp>
        <p:nvSpPr>
          <p:cNvPr id="25" name="Text 23"/>
          <p:cNvSpPr/>
          <p:nvPr/>
        </p:nvSpPr>
        <p:spPr>
          <a:xfrm>
            <a:off x="6356909"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4</a:t>
            </a:r>
            <a:endParaRPr lang="en-US" sz="2000" dirty="0"/>
          </a:p>
        </p:txBody>
      </p:sp>
      <p:sp>
        <p:nvSpPr>
          <p:cNvPr id="26" name="Text 24"/>
          <p:cNvSpPr/>
          <p:nvPr/>
        </p:nvSpPr>
        <p:spPr>
          <a:xfrm>
            <a:off x="7271309" y="2133600"/>
            <a:ext cx="438912" cy="292608"/>
          </a:xfrm>
          <a:prstGeom prst="rect">
            <a:avLst/>
          </a:prstGeom>
          <a:solidFill>
            <a:srgbClr val="6D28D9"/>
          </a:solid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1200" b="1" dirty="0">
                <a:solidFill>
                  <a:srgbClr val="FFFFFF"/>
                </a:solidFill>
                <a:latin typeface="Calibri" pitchFamily="34" charset="0"/>
                <a:ea typeface="Calibri" pitchFamily="34" charset="-122"/>
                <a:cs typeface="Calibri" pitchFamily="34" charset="-120"/>
              </a:rPr>
              <a:t>AI</a:t>
            </a:r>
            <a:endParaRPr lang="en-US" sz="1200" dirty="0"/>
          </a:p>
        </p:txBody>
      </p:sp>
      <p:sp>
        <p:nvSpPr>
          <p:cNvPr id="27" name="Text 25"/>
          <p:cNvSpPr/>
          <p:nvPr/>
        </p:nvSpPr>
        <p:spPr>
          <a:xfrm>
            <a:off x="6356909"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Query safely</a:t>
            </a:r>
            <a:endParaRPr lang="en-US" sz="1800" dirty="0"/>
          </a:p>
        </p:txBody>
      </p:sp>
      <p:sp>
        <p:nvSpPr>
          <p:cNvPr id="28" name="Text 26"/>
          <p:cNvSpPr/>
          <p:nvPr/>
        </p:nvSpPr>
        <p:spPr>
          <a:xfrm>
            <a:off x="6356909"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AI drafts SQL; a guard allows read-only only</a:t>
            </a:r>
            <a:endParaRPr lang="en-US" sz="1400" dirty="0"/>
          </a:p>
        </p:txBody>
      </p:sp>
      <p:sp>
        <p:nvSpPr>
          <p:cNvPr id="29" name="Shape 27"/>
          <p:cNvSpPr/>
          <p:nvPr/>
        </p:nvSpPr>
        <p:spPr>
          <a:xfrm rot="5400000">
            <a:off x="7893101" y="2980944"/>
            <a:ext cx="134112" cy="195072"/>
          </a:xfrm>
          <a:prstGeom prst="triangle">
            <a:avLst/>
          </a:prstGeom>
          <a:solidFill>
            <a:srgbClr val="94A3B8"/>
          </a:solidFill>
          <a:ln/>
        </p:spPr>
      </p:sp>
      <p:sp>
        <p:nvSpPr>
          <p:cNvPr id="30" name="Shape 28"/>
          <p:cNvSpPr/>
          <p:nvPr/>
        </p:nvSpPr>
        <p:spPr>
          <a:xfrm>
            <a:off x="8061351" y="1889760"/>
            <a:ext cx="1658112" cy="2377440"/>
          </a:xfrm>
          <a:prstGeom prst="rect">
            <a:avLst/>
          </a:prstGeom>
          <a:solidFill>
            <a:srgbClr val="DBEAFE"/>
          </a:solidFill>
          <a:ln w="12700">
            <a:solidFill>
              <a:srgbClr val="1D4ED8"/>
            </a:solidFill>
            <a:prstDash val="solid"/>
          </a:ln>
        </p:spPr>
      </p:sp>
      <p:sp>
        <p:nvSpPr>
          <p:cNvPr id="31" name="Shape 29"/>
          <p:cNvSpPr/>
          <p:nvPr/>
        </p:nvSpPr>
        <p:spPr>
          <a:xfrm>
            <a:off x="8219847" y="2072640"/>
            <a:ext cx="512064" cy="512064"/>
          </a:xfrm>
          <a:prstGeom prst="ellipse">
            <a:avLst/>
          </a:prstGeom>
          <a:solidFill>
            <a:srgbClr val="1D4ED8"/>
          </a:solidFill>
          <a:ln/>
        </p:spPr>
      </p:sp>
      <p:sp>
        <p:nvSpPr>
          <p:cNvPr id="32" name="Text 30"/>
          <p:cNvSpPr/>
          <p:nvPr/>
        </p:nvSpPr>
        <p:spPr>
          <a:xfrm>
            <a:off x="8219847"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5</a:t>
            </a:r>
            <a:endParaRPr lang="en-US" sz="2000" dirty="0"/>
          </a:p>
        </p:txBody>
      </p:sp>
      <p:sp>
        <p:nvSpPr>
          <p:cNvPr id="33" name="Text 31"/>
          <p:cNvSpPr/>
          <p:nvPr/>
        </p:nvSpPr>
        <p:spPr>
          <a:xfrm>
            <a:off x="8219847"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Verify</a:t>
            </a:r>
            <a:endParaRPr lang="en-US" sz="1800" dirty="0"/>
          </a:p>
        </p:txBody>
      </p:sp>
      <p:sp>
        <p:nvSpPr>
          <p:cNvPr id="34" name="Text 32"/>
          <p:cNvSpPr/>
          <p:nvPr/>
        </p:nvSpPr>
        <p:spPr>
          <a:xfrm>
            <a:off x="8219847"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Code computes every number and checks the chart</a:t>
            </a:r>
            <a:endParaRPr lang="en-US" sz="1400" dirty="0"/>
          </a:p>
        </p:txBody>
      </p:sp>
      <p:sp>
        <p:nvSpPr>
          <p:cNvPr id="35" name="Shape 33"/>
          <p:cNvSpPr/>
          <p:nvPr/>
        </p:nvSpPr>
        <p:spPr>
          <a:xfrm rot="5400000">
            <a:off x="9756039" y="2980944"/>
            <a:ext cx="134112" cy="195072"/>
          </a:xfrm>
          <a:prstGeom prst="triangle">
            <a:avLst/>
          </a:prstGeom>
          <a:solidFill>
            <a:srgbClr val="94A3B8"/>
          </a:solidFill>
          <a:ln/>
        </p:spPr>
      </p:sp>
      <p:sp>
        <p:nvSpPr>
          <p:cNvPr id="36" name="Shape 34"/>
          <p:cNvSpPr/>
          <p:nvPr/>
        </p:nvSpPr>
        <p:spPr>
          <a:xfrm>
            <a:off x="9924288" y="1889760"/>
            <a:ext cx="1658112" cy="2377440"/>
          </a:xfrm>
          <a:prstGeom prst="rect">
            <a:avLst/>
          </a:prstGeom>
          <a:solidFill>
            <a:srgbClr val="D1FAE5"/>
          </a:solidFill>
          <a:ln w="12700">
            <a:solidFill>
              <a:srgbClr val="047857"/>
            </a:solidFill>
            <a:prstDash val="solid"/>
          </a:ln>
        </p:spPr>
      </p:sp>
      <p:sp>
        <p:nvSpPr>
          <p:cNvPr id="37" name="Shape 35"/>
          <p:cNvSpPr/>
          <p:nvPr/>
        </p:nvSpPr>
        <p:spPr>
          <a:xfrm>
            <a:off x="10082784" y="2072640"/>
            <a:ext cx="512064" cy="512064"/>
          </a:xfrm>
          <a:prstGeom prst="ellipse">
            <a:avLst/>
          </a:prstGeom>
          <a:solidFill>
            <a:srgbClr val="047857"/>
          </a:solidFill>
          <a:ln/>
        </p:spPr>
      </p:sp>
      <p:sp>
        <p:nvSpPr>
          <p:cNvPr id="38" name="Text 36"/>
          <p:cNvSpPr/>
          <p:nvPr/>
        </p:nvSpPr>
        <p:spPr>
          <a:xfrm>
            <a:off x="10082784" y="2072640"/>
            <a:ext cx="512064" cy="512064"/>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lgn="ctr">
              <a:buNone/>
            </a:pPr>
            <a:r>
              <a:rPr lang="en-US" sz="2000" b="1" dirty="0">
                <a:solidFill>
                  <a:srgbClr val="FFFFFF"/>
                </a:solidFill>
                <a:latin typeface="Trebuchet MS" pitchFamily="34" charset="0"/>
                <a:ea typeface="Trebuchet MS" pitchFamily="34" charset="-122"/>
                <a:cs typeface="Trebuchet MS" pitchFamily="34" charset="-120"/>
              </a:rPr>
              <a:t>6</a:t>
            </a:r>
            <a:endParaRPr lang="en-US" sz="2000" dirty="0"/>
          </a:p>
        </p:txBody>
      </p:sp>
      <p:sp>
        <p:nvSpPr>
          <p:cNvPr id="39" name="Text 37"/>
          <p:cNvSpPr/>
          <p:nvPr/>
        </p:nvSpPr>
        <p:spPr>
          <a:xfrm>
            <a:off x="10082784" y="2718816"/>
            <a:ext cx="1414272" cy="438912"/>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800" b="1" dirty="0">
                <a:solidFill>
                  <a:srgbClr val="0F172A"/>
                </a:solidFill>
                <a:latin typeface="Calibri" pitchFamily="34" charset="0"/>
                <a:ea typeface="Calibri" pitchFamily="34" charset="-122"/>
                <a:cs typeface="Calibri" pitchFamily="34" charset="-120"/>
              </a:rPr>
              <a:t>Answer</a:t>
            </a:r>
            <a:endParaRPr lang="en-US" sz="1800" dirty="0"/>
          </a:p>
        </p:txBody>
      </p:sp>
      <p:sp>
        <p:nvSpPr>
          <p:cNvPr id="40" name="Text 38"/>
          <p:cNvSpPr/>
          <p:nvPr/>
        </p:nvSpPr>
        <p:spPr>
          <a:xfrm>
            <a:off x="10082784" y="3169920"/>
            <a:ext cx="1389888" cy="999744"/>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dirty="0">
                <a:solidFill>
                  <a:srgbClr val="475569"/>
                </a:solidFill>
                <a:latin typeface="Calibri" pitchFamily="34" charset="0"/>
                <a:ea typeface="Calibri" pitchFamily="34" charset="-122"/>
                <a:cs typeface="Calibri" pitchFamily="34" charset="-120"/>
              </a:rPr>
              <a:t>Finding, charts, evidence, actions, SQL</a:t>
            </a:r>
            <a:endParaRPr lang="en-US" sz="1400" dirty="0"/>
          </a:p>
        </p:txBody>
      </p:sp>
      <p:sp>
        <p:nvSpPr>
          <p:cNvPr id="41" name="Shape 39"/>
          <p:cNvSpPr/>
          <p:nvPr/>
        </p:nvSpPr>
        <p:spPr>
          <a:xfrm>
            <a:off x="609600" y="4572000"/>
            <a:ext cx="5303520" cy="1463040"/>
          </a:xfrm>
          <a:prstGeom prst="rect">
            <a:avLst/>
          </a:prstGeom>
          <a:solidFill>
            <a:srgbClr val="FFF7ED"/>
          </a:solidFill>
          <a:ln w="12700">
            <a:solidFill>
              <a:srgbClr val="D97706"/>
            </a:solidFill>
            <a:prstDash val="dash"/>
          </a:ln>
        </p:spPr>
      </p:sp>
      <p:sp>
        <p:nvSpPr>
          <p:cNvPr id="42" name="Text 40"/>
          <p:cNvSpPr/>
          <p:nvPr/>
        </p:nvSpPr>
        <p:spPr>
          <a:xfrm>
            <a:off x="829056" y="4657344"/>
            <a:ext cx="4937760" cy="129235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0F172A"/>
                </a:solidFill>
                <a:latin typeface="Calibri" pitchFamily="34" charset="0"/>
                <a:ea typeface="Calibri" pitchFamily="34" charset="-122"/>
                <a:cs typeface="Calibri" pitchFamily="34" charset="-120"/>
              </a:rPr>
              <a:t>If something fails, the user still gets an honest answer</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Rule-based question splitting, one automatic SQL repair, a direct-query path, and plain wording when AI text cannot be verified. Unanswerable parts are listed, never guessed.</a:t>
            </a:r>
            <a:endParaRPr lang="en-US" sz="1400" dirty="0"/>
          </a:p>
        </p:txBody>
      </p:sp>
      <p:sp>
        <p:nvSpPr>
          <p:cNvPr id="43" name="Shape 41"/>
          <p:cNvSpPr/>
          <p:nvPr/>
        </p:nvSpPr>
        <p:spPr>
          <a:xfrm>
            <a:off x="6278880" y="4572000"/>
            <a:ext cx="5303520" cy="1463040"/>
          </a:xfrm>
          <a:prstGeom prst="rect">
            <a:avLst/>
          </a:prstGeom>
          <a:solidFill>
            <a:srgbClr val="F1F5F9"/>
          </a:solidFill>
          <a:ln w="12700">
            <a:solidFill>
              <a:srgbClr val="D7DEE8"/>
            </a:solidFill>
            <a:prstDash val="solid"/>
          </a:ln>
        </p:spPr>
      </p:sp>
      <p:sp>
        <p:nvSpPr>
          <p:cNvPr id="44" name="Text 42"/>
          <p:cNvSpPr/>
          <p:nvPr/>
        </p:nvSpPr>
        <p:spPr>
          <a:xfrm>
            <a:off x="6498336" y="4657344"/>
            <a:ext cx="4937760" cy="1292352"/>
          </a:xfrm>
          <a:prstGeom prst="rect">
            <a:avLst/>
          </a:prstGeom>
          <a:noFill/>
          <a:ln/>
        </p:spPr>
        <p:txBody>
          <a:bodyPr wrap="square" lIns="0" tIns="0" rIns="0" bIns="0" rtlCol="0" anchor="t"/>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400" b="1" dirty="0">
                <a:solidFill>
                  <a:srgbClr val="0F172A"/>
                </a:solidFill>
                <a:latin typeface="Calibri" pitchFamily="34" charset="0"/>
                <a:ea typeface="Calibri" pitchFamily="34" charset="-122"/>
                <a:cs typeface="Calibri" pitchFamily="34" charset="-120"/>
              </a:rPr>
              <a:t>In simple terms</a:t>
            </a:r>
            <a:endParaRPr lang="en-US" sz="1400" dirty="0"/>
          </a:p>
          <a:p>
            <a:pPr marL="0" indent="0">
              <a:buNone/>
            </a:pPr>
            <a:r>
              <a:rPr lang="en-US" sz="1400" dirty="0">
                <a:solidFill>
                  <a:srgbClr val="475569"/>
                </a:solidFill>
                <a:latin typeface="Calibri" pitchFamily="34" charset="0"/>
                <a:ea typeface="Calibri" pitchFamily="34" charset="-122"/>
                <a:cs typeface="Calibri" pitchFamily="34" charset="-120"/>
              </a:rPr>
              <a:t>SQL = the database query. Read-only = it can look at data but never change it. Verified = every number traced back to the query result.</a:t>
            </a:r>
            <a:endParaRPr lang="en-US" sz="1400" dirty="0"/>
          </a:p>
        </p:txBody>
      </p:sp>
      <p:sp>
        <p:nvSpPr>
          <p:cNvPr id="45" name="Text 43"/>
          <p:cNvSpPr/>
          <p:nvPr/>
        </p:nvSpPr>
        <p:spPr>
          <a:xfrm>
            <a:off x="609600" y="6461760"/>
            <a:ext cx="2438400" cy="304800"/>
          </a:xfrm>
          <a:prstGeom prst="rect">
            <a:avLst/>
          </a:prstGeom>
          <a:noFill/>
          <a:ln/>
        </p:spPr>
        <p:txBody>
          <a:bodyPr wrap="square" lIns="0" tIns="0" rIns="0" bIns="0" rtlCol="0" anchor="ctr"/>
          <a:lstStyle>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pPr marL="0" indent="0">
              <a:buNone/>
            </a:pPr>
            <a:r>
              <a:rPr lang="en-US" sz="1200">
                <a:solidFill>
                  <a:srgbClr val="475569"/>
                </a:solidFill>
                <a:latin typeface="Calibri"/>
                <a:ea typeface="Calibri"/>
                <a:cs typeface="Calibri"/>
              </a:rPr>
              <a:t>DataTalk.AI</a:t>
            </a:r>
            <a:endParaRPr lang="en-US" sz="1200">
              <a:latin typeface="Calibri"/>
              <a:ea typeface="Calibri"/>
              <a:cs typeface="Calibri"/>
            </a:endParaRPr>
          </a:p>
        </p:txBody>
      </p:sp>
    </p:spTree>
    <p:extLst>
      <p:ext uri="{BB962C8B-B14F-4D97-AF65-F5344CB8AC3E}">
        <p14:creationId xmlns:p14="http://schemas.microsoft.com/office/powerpoint/2010/main" val="10302616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3F6FA"/>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lIns="0" tIns="0" rIns="0" bIns="0" rtlCol="0" anchor="ctr"/>
          <a:lstStyle/>
          <a:p>
            <a:pPr marL="0" indent="0">
              <a:buNone/>
            </a:pPr>
            <a:r>
              <a:rPr lang="en-US" sz="3200" b="1" dirty="0">
                <a:solidFill>
                  <a:srgbClr val="0F172A"/>
                </a:solidFill>
                <a:latin typeface="Georgia" pitchFamily="34" charset="0"/>
                <a:ea typeface="Georgia" pitchFamily="34" charset="-122"/>
                <a:cs typeface="Georgia" pitchFamily="34" charset="-120"/>
              </a:rPr>
              <a:t>Architecture: AI understands, code verifies</a:t>
            </a:r>
            <a:endParaRPr lang="en-US" sz="3200" dirty="0"/>
          </a:p>
        </p:txBody>
      </p:sp>
      <p:sp>
        <p:nvSpPr>
          <p:cNvPr id="3" name="Shape 1"/>
          <p:cNvSpPr/>
          <p:nvPr/>
        </p:nvSpPr>
        <p:spPr>
          <a:xfrm>
            <a:off x="548640" y="1417320"/>
            <a:ext cx="7406640" cy="822960"/>
          </a:xfrm>
          <a:prstGeom prst="rect">
            <a:avLst/>
          </a:prstGeom>
          <a:solidFill>
            <a:srgbClr val="0B1F3A"/>
          </a:solidFill>
          <a:ln w="12700">
            <a:solidFill>
              <a:srgbClr val="0B1F3A"/>
            </a:solidFill>
            <a:prstDash val="solid"/>
          </a:ln>
        </p:spPr>
        <p:txBody>
          <a:bodyPr/>
          <a:lstStyle/>
          <a:p>
            <a:endParaRPr lang="en-US"/>
          </a:p>
        </p:txBody>
      </p:sp>
      <p:sp>
        <p:nvSpPr>
          <p:cNvPr id="4" name="Text 2"/>
          <p:cNvSpPr/>
          <p:nvPr/>
        </p:nvSpPr>
        <p:spPr>
          <a:xfrm>
            <a:off x="731520" y="1490472"/>
            <a:ext cx="7040880" cy="292608"/>
          </a:xfrm>
          <a:prstGeom prst="rect">
            <a:avLst/>
          </a:prstGeom>
          <a:noFill/>
          <a:ln/>
        </p:spPr>
        <p:txBody>
          <a:bodyPr wrap="square" lIns="0" tIns="0" rIns="0" bIns="0" rtlCol="0" anchor="ctr"/>
          <a:lstStyle/>
          <a:p>
            <a:pPr marL="0" indent="0">
              <a:buNone/>
            </a:pPr>
            <a:endParaRPr lang="en-US" sz="1400" b="1" dirty="0">
              <a:solidFill>
                <a:srgbClr val="FFFFFF"/>
              </a:solidFill>
              <a:latin typeface="Calibri"/>
              <a:ea typeface="Calibri"/>
              <a:cs typeface="Calibri"/>
            </a:endParaRPr>
          </a:p>
        </p:txBody>
      </p:sp>
      <p:sp>
        <p:nvSpPr>
          <p:cNvPr id="5" name="Text 3"/>
          <p:cNvSpPr/>
          <p:nvPr/>
        </p:nvSpPr>
        <p:spPr>
          <a:xfrm>
            <a:off x="640535" y="1721756"/>
            <a:ext cx="7040880" cy="365760"/>
          </a:xfrm>
          <a:prstGeom prst="rect">
            <a:avLst/>
          </a:prstGeom>
          <a:noFill/>
          <a:ln/>
        </p:spPr>
        <p:txBody>
          <a:bodyPr wrap="square" lIns="0" tIns="0" rIns="0" bIns="0" rtlCol="0" anchor="t"/>
          <a:lstStyle/>
          <a:p>
            <a:pPr marL="0" indent="0">
              <a:buNone/>
            </a:pPr>
            <a:r>
              <a:rPr lang="en-US" sz="1400" dirty="0">
                <a:solidFill>
                  <a:srgbClr val="FFFFFF"/>
                </a:solidFill>
                <a:latin typeface="Calibri"/>
                <a:ea typeface="Calibri"/>
                <a:cs typeface="Calibri"/>
              </a:rPr>
              <a:t>AI Assistant · Deep Dive · Intelligence · Risk &amp; Findings · Data Explorer · Documentation</a:t>
            </a:r>
            <a:endParaRPr lang="en-US" sz="1400">
              <a:latin typeface="Calibri"/>
              <a:ea typeface="Calibri"/>
              <a:cs typeface="Calibri"/>
            </a:endParaRPr>
          </a:p>
        </p:txBody>
      </p:sp>
      <p:sp>
        <p:nvSpPr>
          <p:cNvPr id="6" name="Shape 4"/>
          <p:cNvSpPr/>
          <p:nvPr/>
        </p:nvSpPr>
        <p:spPr>
          <a:xfrm>
            <a:off x="4114800" y="2267712"/>
            <a:ext cx="274320" cy="228600"/>
          </a:xfrm>
          <a:prstGeom prst="downArrow">
            <a:avLst/>
          </a:prstGeom>
          <a:solidFill>
            <a:srgbClr val="5B6B82"/>
          </a:solidFill>
          <a:ln w="12700">
            <a:solidFill>
              <a:srgbClr val="5B6B82"/>
            </a:solidFill>
            <a:prstDash val="solid"/>
          </a:ln>
        </p:spPr>
        <p:txBody>
          <a:bodyPr/>
          <a:lstStyle/>
          <a:p>
            <a:endParaRPr lang="en-US"/>
          </a:p>
        </p:txBody>
      </p:sp>
      <p:sp>
        <p:nvSpPr>
          <p:cNvPr id="7" name="Shape 5"/>
          <p:cNvSpPr/>
          <p:nvPr/>
        </p:nvSpPr>
        <p:spPr>
          <a:xfrm>
            <a:off x="548640" y="2523744"/>
            <a:ext cx="7406640" cy="868680"/>
          </a:xfrm>
          <a:prstGeom prst="rect">
            <a:avLst/>
          </a:prstGeom>
          <a:solidFill>
            <a:srgbClr val="0E9F8E"/>
          </a:solidFill>
          <a:ln w="12700">
            <a:solidFill>
              <a:srgbClr val="0E9F8E"/>
            </a:solidFill>
            <a:prstDash val="solid"/>
          </a:ln>
        </p:spPr>
        <p:txBody>
          <a:bodyPr/>
          <a:lstStyle/>
          <a:p>
            <a:endParaRPr lang="en-US"/>
          </a:p>
        </p:txBody>
      </p:sp>
      <p:sp>
        <p:nvSpPr>
          <p:cNvPr id="8" name="Text 6"/>
          <p:cNvSpPr/>
          <p:nvPr/>
        </p:nvSpPr>
        <p:spPr>
          <a:xfrm>
            <a:off x="731520" y="2596896"/>
            <a:ext cx="7040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Orchestration  ·  routing and sequencing</a:t>
            </a:r>
            <a:endParaRPr lang="en-US" sz="1400" dirty="0"/>
          </a:p>
        </p:txBody>
      </p:sp>
      <p:sp>
        <p:nvSpPr>
          <p:cNvPr id="9" name="Text 7"/>
          <p:cNvSpPr/>
          <p:nvPr/>
        </p:nvSpPr>
        <p:spPr>
          <a:xfrm>
            <a:off x="731520" y="2907792"/>
            <a:ext cx="7040880" cy="411480"/>
          </a:xfrm>
          <a:prstGeom prst="rect">
            <a:avLst/>
          </a:prstGeom>
          <a:noFill/>
          <a:ln/>
        </p:spPr>
        <p:txBody>
          <a:bodyPr wrap="square" lIns="0" tIns="0" rIns="0" bIns="0" rtlCol="0" anchor="t"/>
          <a:lstStyle/>
          <a:p>
            <a:pPr marL="0" indent="0">
              <a:buNone/>
            </a:pPr>
            <a:r>
              <a:rPr lang="en-US" sz="1200">
                <a:solidFill>
                  <a:srgbClr val="FFFFFF"/>
                </a:solidFill>
                <a:latin typeface="Calibri"/>
                <a:ea typeface="Calibri"/>
                <a:cs typeface="Calibri"/>
              </a:rPr>
              <a:t>Supervisor Agent decides the route. Analytics Reasoning Agent runs plan → query → check → run → chart </a:t>
            </a:r>
            <a:r>
              <a:rPr lang="en-US" sz="1200" dirty="0">
                <a:solidFill>
                  <a:srgbClr val="FFFFFF"/>
                </a:solidFill>
                <a:latin typeface="Calibri"/>
                <a:ea typeface="Calibri"/>
                <a:cs typeface="Calibri"/>
              </a:rPr>
              <a:t>→ insight for each sub-question.</a:t>
            </a:r>
            <a:endParaRPr lang="en-US" sz="1200" dirty="0">
              <a:latin typeface="Calibri"/>
              <a:ea typeface="Calibri"/>
              <a:cs typeface="Calibri"/>
            </a:endParaRPr>
          </a:p>
        </p:txBody>
      </p:sp>
      <p:sp>
        <p:nvSpPr>
          <p:cNvPr id="10" name="Shape 8"/>
          <p:cNvSpPr/>
          <p:nvPr/>
        </p:nvSpPr>
        <p:spPr>
          <a:xfrm>
            <a:off x="4114800" y="3419856"/>
            <a:ext cx="274320" cy="228600"/>
          </a:xfrm>
          <a:prstGeom prst="downArrow">
            <a:avLst/>
          </a:prstGeom>
          <a:solidFill>
            <a:srgbClr val="5B6B82"/>
          </a:solidFill>
          <a:ln w="12700">
            <a:solidFill>
              <a:srgbClr val="5B6B82"/>
            </a:solidFill>
            <a:prstDash val="solid"/>
          </a:ln>
        </p:spPr>
        <p:txBody>
          <a:bodyPr/>
          <a:lstStyle/>
          <a:p>
            <a:endParaRPr lang="en-US"/>
          </a:p>
        </p:txBody>
      </p:sp>
      <p:sp>
        <p:nvSpPr>
          <p:cNvPr id="11" name="Shape 9"/>
          <p:cNvSpPr/>
          <p:nvPr/>
        </p:nvSpPr>
        <p:spPr>
          <a:xfrm>
            <a:off x="548640" y="3675888"/>
            <a:ext cx="3611880" cy="1234440"/>
          </a:xfrm>
          <a:prstGeom prst="rect">
            <a:avLst/>
          </a:prstGeom>
          <a:solidFill>
            <a:srgbClr val="7C3AED"/>
          </a:solidFill>
          <a:ln w="12700">
            <a:solidFill>
              <a:srgbClr val="7C3AED"/>
            </a:solidFill>
            <a:prstDash val="solid"/>
          </a:ln>
        </p:spPr>
        <p:txBody>
          <a:bodyPr/>
          <a:lstStyle/>
          <a:p>
            <a:endParaRPr lang="en-US"/>
          </a:p>
        </p:txBody>
      </p:sp>
      <p:sp>
        <p:nvSpPr>
          <p:cNvPr id="12" name="Text 10"/>
          <p:cNvSpPr/>
          <p:nvPr/>
        </p:nvSpPr>
        <p:spPr>
          <a:xfrm>
            <a:off x="731520" y="3749040"/>
            <a:ext cx="32461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AI agents</a:t>
            </a:r>
            <a:endParaRPr lang="en-US" sz="1400" dirty="0"/>
          </a:p>
        </p:txBody>
      </p:sp>
      <p:sp>
        <p:nvSpPr>
          <p:cNvPr id="13" name="Text 11"/>
          <p:cNvSpPr/>
          <p:nvPr/>
        </p:nvSpPr>
        <p:spPr>
          <a:xfrm>
            <a:off x="731520" y="4059936"/>
            <a:ext cx="3246120" cy="7772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Planner · SQL Agent · Insight wording · Response Agent. All calls go through one validated client with retries and fallbacks.</a:t>
            </a:r>
            <a:endParaRPr lang="en-US" sz="1200" dirty="0"/>
          </a:p>
        </p:txBody>
      </p:sp>
      <p:sp>
        <p:nvSpPr>
          <p:cNvPr id="14" name="Shape 12"/>
          <p:cNvSpPr/>
          <p:nvPr/>
        </p:nvSpPr>
        <p:spPr>
          <a:xfrm>
            <a:off x="4343400" y="3675888"/>
            <a:ext cx="3611880" cy="1234440"/>
          </a:xfrm>
          <a:prstGeom prst="rect">
            <a:avLst/>
          </a:prstGeom>
          <a:solidFill>
            <a:srgbClr val="2563EB"/>
          </a:solidFill>
          <a:ln w="12700">
            <a:solidFill>
              <a:srgbClr val="2563EB"/>
            </a:solidFill>
            <a:prstDash val="solid"/>
          </a:ln>
        </p:spPr>
        <p:txBody>
          <a:bodyPr/>
          <a:lstStyle/>
          <a:p>
            <a:endParaRPr lang="en-US"/>
          </a:p>
        </p:txBody>
      </p:sp>
      <p:sp>
        <p:nvSpPr>
          <p:cNvPr id="15" name="Text 13"/>
          <p:cNvSpPr/>
          <p:nvPr/>
        </p:nvSpPr>
        <p:spPr>
          <a:xfrm>
            <a:off x="4526280" y="3749040"/>
            <a:ext cx="324612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Deterministic code</a:t>
            </a:r>
            <a:endParaRPr lang="en-US" sz="1400" dirty="0"/>
          </a:p>
        </p:txBody>
      </p:sp>
      <p:sp>
        <p:nvSpPr>
          <p:cNvPr id="16" name="Text 14"/>
          <p:cNvSpPr/>
          <p:nvPr/>
        </p:nvSpPr>
        <p:spPr>
          <a:xfrm>
            <a:off x="4526280" y="4059936"/>
            <a:ext cx="3246120" cy="77724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SQL guard · charts · evidence checks · quick actions · anomaly detection · forecast · answer cache</a:t>
            </a:r>
            <a:endParaRPr lang="en-US" sz="1200" dirty="0"/>
          </a:p>
        </p:txBody>
      </p:sp>
      <p:sp>
        <p:nvSpPr>
          <p:cNvPr id="17" name="Shape 15"/>
          <p:cNvSpPr/>
          <p:nvPr/>
        </p:nvSpPr>
        <p:spPr>
          <a:xfrm>
            <a:off x="4114800" y="4937760"/>
            <a:ext cx="274320" cy="228600"/>
          </a:xfrm>
          <a:prstGeom prst="downArrow">
            <a:avLst/>
          </a:prstGeom>
          <a:solidFill>
            <a:srgbClr val="5B6B82"/>
          </a:solidFill>
          <a:ln w="12700">
            <a:solidFill>
              <a:srgbClr val="5B6B82"/>
            </a:solidFill>
            <a:prstDash val="solid"/>
          </a:ln>
        </p:spPr>
        <p:txBody>
          <a:bodyPr/>
          <a:lstStyle/>
          <a:p>
            <a:endParaRPr lang="en-US"/>
          </a:p>
        </p:txBody>
      </p:sp>
      <p:sp>
        <p:nvSpPr>
          <p:cNvPr id="18" name="Shape 16"/>
          <p:cNvSpPr/>
          <p:nvPr/>
        </p:nvSpPr>
        <p:spPr>
          <a:xfrm>
            <a:off x="548640" y="5193792"/>
            <a:ext cx="7406640" cy="868680"/>
          </a:xfrm>
          <a:prstGeom prst="rect">
            <a:avLst/>
          </a:prstGeom>
          <a:solidFill>
            <a:srgbClr val="059669"/>
          </a:solidFill>
          <a:ln w="12700">
            <a:solidFill>
              <a:srgbClr val="059669"/>
            </a:solidFill>
            <a:prstDash val="solid"/>
          </a:ln>
        </p:spPr>
        <p:txBody>
          <a:bodyPr/>
          <a:lstStyle/>
          <a:p>
            <a:endParaRPr lang="en-US"/>
          </a:p>
        </p:txBody>
      </p:sp>
      <p:sp>
        <p:nvSpPr>
          <p:cNvPr id="19" name="Text 17"/>
          <p:cNvSpPr/>
          <p:nvPr/>
        </p:nvSpPr>
        <p:spPr>
          <a:xfrm>
            <a:off x="731520" y="5266944"/>
            <a:ext cx="704088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Data  ·  Databricks SQL warehouse</a:t>
            </a:r>
            <a:endParaRPr lang="en-US" sz="1400" dirty="0"/>
          </a:p>
        </p:txBody>
      </p:sp>
      <p:sp>
        <p:nvSpPr>
          <p:cNvPr id="20" name="Text 18"/>
          <p:cNvSpPr/>
          <p:nvPr/>
        </p:nvSpPr>
        <p:spPr>
          <a:xfrm>
            <a:off x="731520" y="5577840"/>
            <a:ext cx="7040880" cy="411480"/>
          </a:xfrm>
          <a:prstGeom prst="rect">
            <a:avLst/>
          </a:prstGeom>
          <a:noFill/>
          <a:ln/>
        </p:spPr>
        <p:txBody>
          <a:bodyPr wrap="square" lIns="0" tIns="0" rIns="0" bIns="0" rtlCol="0" anchor="t"/>
          <a:lstStyle/>
          <a:p>
            <a:pPr marL="0" indent="0">
              <a:buNone/>
            </a:pPr>
            <a:r>
              <a:rPr lang="en-US" sz="1200" dirty="0">
                <a:solidFill>
                  <a:srgbClr val="FFFFFF"/>
                </a:solidFill>
                <a:latin typeface="Calibri" pitchFamily="34" charset="0"/>
                <a:ea typeface="Calibri" pitchFamily="34" charset="-122"/>
                <a:cs typeface="Calibri" pitchFamily="34" charset="-120"/>
              </a:rPr>
              <a:t>Read-only access to one approved appeals table. Loaded for dashboards; queried live for AI answers.</a:t>
            </a:r>
            <a:endParaRPr lang="en-US" sz="1200" dirty="0"/>
          </a:p>
        </p:txBody>
      </p:sp>
      <p:sp>
        <p:nvSpPr>
          <p:cNvPr id="21" name="Text 19"/>
          <p:cNvSpPr/>
          <p:nvPr/>
        </p:nvSpPr>
        <p:spPr>
          <a:xfrm>
            <a:off x="8321040" y="1371600"/>
            <a:ext cx="3337560" cy="320040"/>
          </a:xfrm>
          <a:prstGeom prst="rect">
            <a:avLst/>
          </a:prstGeom>
          <a:noFill/>
          <a:ln/>
        </p:spPr>
        <p:txBody>
          <a:bodyPr wrap="square" lIns="0" tIns="0" rIns="0" bIns="0" rtlCol="0" anchor="ctr"/>
          <a:lstStyle/>
          <a:p>
            <a:pPr marL="0" indent="0">
              <a:buNone/>
            </a:pPr>
            <a:r>
              <a:rPr lang="en-US" sz="1800" b="1" dirty="0">
                <a:solidFill>
                  <a:srgbClr val="0F172A"/>
                </a:solidFill>
                <a:latin typeface="Georgia" pitchFamily="34" charset="0"/>
                <a:ea typeface="Georgia" pitchFamily="34" charset="-122"/>
                <a:cs typeface="Georgia" pitchFamily="34" charset="-120"/>
              </a:rPr>
              <a:t>Integrations</a:t>
            </a:r>
            <a:endParaRPr lang="en-US" sz="1800" dirty="0"/>
          </a:p>
        </p:txBody>
      </p:sp>
      <p:sp>
        <p:nvSpPr>
          <p:cNvPr id="22" name="Shape 20"/>
          <p:cNvSpPr/>
          <p:nvPr/>
        </p:nvSpPr>
        <p:spPr>
          <a:xfrm>
            <a:off x="8321040" y="1783080"/>
            <a:ext cx="3337560" cy="914400"/>
          </a:xfrm>
          <a:prstGeom prst="rect">
            <a:avLst/>
          </a:prstGeom>
          <a:solidFill>
            <a:srgbClr val="FFFFFF"/>
          </a:solidFill>
          <a:ln w="9525">
            <a:solidFill>
              <a:srgbClr val="D5DDE8"/>
            </a:solidFill>
            <a:prstDash val="solid"/>
          </a:ln>
        </p:spPr>
        <p:txBody>
          <a:bodyPr/>
          <a:lstStyle/>
          <a:p>
            <a:endParaRPr lang="en-US"/>
          </a:p>
        </p:txBody>
      </p:sp>
      <p:sp>
        <p:nvSpPr>
          <p:cNvPr id="23" name="Shape 21"/>
          <p:cNvSpPr/>
          <p:nvPr/>
        </p:nvSpPr>
        <p:spPr>
          <a:xfrm>
            <a:off x="8458200" y="1965960"/>
            <a:ext cx="502920" cy="502920"/>
          </a:xfrm>
          <a:prstGeom prst="ellipse">
            <a:avLst/>
          </a:prstGeom>
          <a:solidFill>
            <a:srgbClr val="059669"/>
          </a:solidFill>
          <a:ln w="12700">
            <a:solidFill>
              <a:srgbClr val="059669"/>
            </a:solidFill>
            <a:prstDash val="solid"/>
          </a:ln>
        </p:spPr>
        <p:txBody>
          <a:bodyPr/>
          <a:lstStyle/>
          <a:p>
            <a:endParaRPr lang="en-US"/>
          </a:p>
        </p:txBody>
      </p:sp>
      <p:pic>
        <p:nvPicPr>
          <p:cNvPr id="24" name="Image 0" descr="preencoded.png"/>
          <p:cNvPicPr>
            <a:picLocks noChangeAspect="1"/>
          </p:cNvPicPr>
          <p:nvPr/>
        </p:nvPicPr>
        <p:blipFill>
          <a:blip r:embed="rId3"/>
          <a:stretch>
            <a:fillRect/>
          </a:stretch>
        </p:blipFill>
        <p:spPr>
          <a:xfrm>
            <a:off x="8593988" y="2101748"/>
            <a:ext cx="231343" cy="231343"/>
          </a:xfrm>
          <a:prstGeom prst="rect">
            <a:avLst/>
          </a:prstGeom>
        </p:spPr>
      </p:pic>
      <p:sp>
        <p:nvSpPr>
          <p:cNvPr id="25" name="Text 22"/>
          <p:cNvSpPr/>
          <p:nvPr/>
        </p:nvSpPr>
        <p:spPr>
          <a:xfrm>
            <a:off x="9098280" y="1856232"/>
            <a:ext cx="2468880" cy="27432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Databricks</a:t>
            </a:r>
            <a:endParaRPr lang="en-US" sz="1350" dirty="0"/>
          </a:p>
        </p:txBody>
      </p:sp>
      <p:sp>
        <p:nvSpPr>
          <p:cNvPr id="26" name="Text 23"/>
          <p:cNvSpPr/>
          <p:nvPr/>
        </p:nvSpPr>
        <p:spPr>
          <a:xfrm>
            <a:off x="9098280" y="2148840"/>
            <a:ext cx="2468880" cy="50292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SQL warehouse; a SELECT-only token is recommended.</a:t>
            </a:r>
            <a:endParaRPr lang="en-US" sz="1150" dirty="0"/>
          </a:p>
        </p:txBody>
      </p:sp>
      <p:sp>
        <p:nvSpPr>
          <p:cNvPr id="27" name="Shape 24"/>
          <p:cNvSpPr/>
          <p:nvPr/>
        </p:nvSpPr>
        <p:spPr>
          <a:xfrm>
            <a:off x="8321040" y="2807208"/>
            <a:ext cx="3337560" cy="914400"/>
          </a:xfrm>
          <a:prstGeom prst="rect">
            <a:avLst/>
          </a:prstGeom>
          <a:solidFill>
            <a:srgbClr val="FFFFFF"/>
          </a:solidFill>
          <a:ln w="9525">
            <a:solidFill>
              <a:srgbClr val="D5DDE8"/>
            </a:solidFill>
            <a:prstDash val="solid"/>
          </a:ln>
        </p:spPr>
        <p:txBody>
          <a:bodyPr/>
          <a:lstStyle/>
          <a:p>
            <a:endParaRPr lang="en-US"/>
          </a:p>
        </p:txBody>
      </p:sp>
      <p:sp>
        <p:nvSpPr>
          <p:cNvPr id="28" name="Shape 25"/>
          <p:cNvSpPr/>
          <p:nvPr/>
        </p:nvSpPr>
        <p:spPr>
          <a:xfrm>
            <a:off x="8458200" y="2990088"/>
            <a:ext cx="502920" cy="502920"/>
          </a:xfrm>
          <a:prstGeom prst="ellipse">
            <a:avLst/>
          </a:prstGeom>
          <a:solidFill>
            <a:srgbClr val="7C3AED"/>
          </a:solidFill>
          <a:ln w="12700">
            <a:solidFill>
              <a:srgbClr val="7C3AED"/>
            </a:solidFill>
            <a:prstDash val="solid"/>
          </a:ln>
        </p:spPr>
        <p:txBody>
          <a:bodyPr/>
          <a:lstStyle/>
          <a:p>
            <a:endParaRPr lang="en-US"/>
          </a:p>
        </p:txBody>
      </p:sp>
      <p:pic>
        <p:nvPicPr>
          <p:cNvPr id="29" name="Image 1" descr="preencoded.png"/>
          <p:cNvPicPr>
            <a:picLocks noChangeAspect="1"/>
          </p:cNvPicPr>
          <p:nvPr/>
        </p:nvPicPr>
        <p:blipFill>
          <a:blip r:embed="rId4"/>
          <a:stretch>
            <a:fillRect/>
          </a:stretch>
        </p:blipFill>
        <p:spPr>
          <a:xfrm>
            <a:off x="8593988" y="3125876"/>
            <a:ext cx="231343" cy="231343"/>
          </a:xfrm>
          <a:prstGeom prst="rect">
            <a:avLst/>
          </a:prstGeom>
        </p:spPr>
      </p:pic>
      <p:sp>
        <p:nvSpPr>
          <p:cNvPr id="30" name="Text 26"/>
          <p:cNvSpPr/>
          <p:nvPr/>
        </p:nvSpPr>
        <p:spPr>
          <a:xfrm>
            <a:off x="9098280" y="2880360"/>
            <a:ext cx="2468880" cy="274320"/>
          </a:xfrm>
          <a:prstGeom prst="rect">
            <a:avLst/>
          </a:prstGeom>
          <a:noFill/>
          <a:ln/>
        </p:spPr>
        <p:txBody>
          <a:bodyPr wrap="square" lIns="0" tIns="0" rIns="0" bIns="0" rtlCol="0" anchor="ctr"/>
          <a:lstStyle/>
          <a:p>
            <a:pPr marL="0" indent="0">
              <a:buNone/>
            </a:pPr>
            <a:r>
              <a:rPr lang="en-US" sz="1350" b="1">
                <a:solidFill>
                  <a:srgbClr val="0F172A"/>
                </a:solidFill>
                <a:latin typeface="Calibri"/>
                <a:ea typeface="Calibri"/>
                <a:cs typeface="Calibri"/>
              </a:rPr>
              <a:t>LLM</a:t>
            </a:r>
            <a:endParaRPr lang="en-US" sz="1350">
              <a:latin typeface="Calibri"/>
              <a:ea typeface="Calibri"/>
              <a:cs typeface="Calibri"/>
            </a:endParaRPr>
          </a:p>
        </p:txBody>
      </p:sp>
      <p:sp>
        <p:nvSpPr>
          <p:cNvPr id="31" name="Text 27"/>
          <p:cNvSpPr/>
          <p:nvPr/>
        </p:nvSpPr>
        <p:spPr>
          <a:xfrm>
            <a:off x="9098280" y="3172968"/>
            <a:ext cx="2468880" cy="50292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Model is configurable; the repository default is openai/gpt-oss-20b.</a:t>
            </a:r>
            <a:endParaRPr lang="en-US" sz="1150" dirty="0"/>
          </a:p>
        </p:txBody>
      </p:sp>
      <p:sp>
        <p:nvSpPr>
          <p:cNvPr id="32" name="Shape 28"/>
          <p:cNvSpPr/>
          <p:nvPr/>
        </p:nvSpPr>
        <p:spPr>
          <a:xfrm>
            <a:off x="8321040" y="3831336"/>
            <a:ext cx="3337560" cy="914400"/>
          </a:xfrm>
          <a:prstGeom prst="rect">
            <a:avLst/>
          </a:prstGeom>
          <a:solidFill>
            <a:srgbClr val="FFFFFF"/>
          </a:solidFill>
          <a:ln w="9525">
            <a:solidFill>
              <a:srgbClr val="D5DDE8"/>
            </a:solidFill>
            <a:prstDash val="solid"/>
          </a:ln>
        </p:spPr>
        <p:txBody>
          <a:bodyPr/>
          <a:lstStyle/>
          <a:p>
            <a:endParaRPr lang="en-US"/>
          </a:p>
        </p:txBody>
      </p:sp>
      <p:sp>
        <p:nvSpPr>
          <p:cNvPr id="33" name="Shape 29"/>
          <p:cNvSpPr/>
          <p:nvPr/>
        </p:nvSpPr>
        <p:spPr>
          <a:xfrm>
            <a:off x="8458200" y="4014216"/>
            <a:ext cx="502920" cy="502920"/>
          </a:xfrm>
          <a:prstGeom prst="ellipse">
            <a:avLst/>
          </a:prstGeom>
          <a:solidFill>
            <a:srgbClr val="2563EB"/>
          </a:solidFill>
          <a:ln w="12700">
            <a:solidFill>
              <a:srgbClr val="2563EB"/>
            </a:solidFill>
            <a:prstDash val="solid"/>
          </a:ln>
        </p:spPr>
        <p:txBody>
          <a:bodyPr/>
          <a:lstStyle/>
          <a:p>
            <a:endParaRPr lang="en-US"/>
          </a:p>
        </p:txBody>
      </p:sp>
      <p:pic>
        <p:nvPicPr>
          <p:cNvPr id="34" name="Image 2" descr="preencoded.png"/>
          <p:cNvPicPr>
            <a:picLocks noChangeAspect="1"/>
          </p:cNvPicPr>
          <p:nvPr/>
        </p:nvPicPr>
        <p:blipFill>
          <a:blip r:embed="rId5"/>
          <a:stretch>
            <a:fillRect/>
          </a:stretch>
        </p:blipFill>
        <p:spPr>
          <a:xfrm>
            <a:off x="8593988" y="4150004"/>
            <a:ext cx="231343" cy="231343"/>
          </a:xfrm>
          <a:prstGeom prst="rect">
            <a:avLst/>
          </a:prstGeom>
        </p:spPr>
      </p:pic>
      <p:sp>
        <p:nvSpPr>
          <p:cNvPr id="35" name="Text 30"/>
          <p:cNvSpPr/>
          <p:nvPr/>
        </p:nvSpPr>
        <p:spPr>
          <a:xfrm>
            <a:off x="9098280" y="3904488"/>
            <a:ext cx="2468880" cy="274320"/>
          </a:xfrm>
          <a:prstGeom prst="rect">
            <a:avLst/>
          </a:prstGeom>
          <a:noFill/>
          <a:ln/>
        </p:spPr>
        <p:txBody>
          <a:bodyPr wrap="square" lIns="0" tIns="0" rIns="0" bIns="0" rtlCol="0" anchor="ctr"/>
          <a:lstStyle/>
          <a:p>
            <a:pPr marL="0" indent="0">
              <a:buNone/>
            </a:pPr>
            <a:r>
              <a:rPr lang="en-US" sz="1350" b="1" dirty="0">
                <a:solidFill>
                  <a:srgbClr val="0F172A"/>
                </a:solidFill>
                <a:latin typeface="Calibri" pitchFamily="34" charset="0"/>
                <a:ea typeface="Calibri" pitchFamily="34" charset="-122"/>
                <a:cs typeface="Calibri" pitchFamily="34" charset="-120"/>
              </a:rPr>
              <a:t>Outlook</a:t>
            </a:r>
            <a:endParaRPr lang="en-US" sz="1350" dirty="0"/>
          </a:p>
        </p:txBody>
      </p:sp>
      <p:sp>
        <p:nvSpPr>
          <p:cNvPr id="36" name="Text 31"/>
          <p:cNvSpPr/>
          <p:nvPr/>
        </p:nvSpPr>
        <p:spPr>
          <a:xfrm>
            <a:off x="9098280" y="4197096"/>
            <a:ext cx="2468880" cy="502920"/>
          </a:xfrm>
          <a:prstGeom prst="rect">
            <a:avLst/>
          </a:prstGeom>
          <a:noFill/>
          <a:ln/>
        </p:spPr>
        <p:txBody>
          <a:bodyPr wrap="square" lIns="0" tIns="0" rIns="0" bIns="0" rtlCol="0" anchor="t"/>
          <a:lstStyle/>
          <a:p>
            <a:pPr marL="0" indent="0">
              <a:buNone/>
            </a:pPr>
            <a:r>
              <a:rPr lang="en-US" sz="1150" dirty="0">
                <a:solidFill>
                  <a:srgbClr val="5B6B82"/>
                </a:solidFill>
                <a:latin typeface="Calibri" pitchFamily="34" charset="0"/>
                <a:ea typeface="Calibri" pitchFamily="34" charset="-122"/>
                <a:cs typeface="Calibri" pitchFamily="34" charset="-120"/>
              </a:rPr>
              <a:t>Compose link pre-filled with an action. Nothing is sent by the app.</a:t>
            </a:r>
            <a:endParaRPr lang="en-US" sz="1150" dirty="0"/>
          </a:p>
        </p:txBody>
      </p:sp>
      <p:sp>
        <p:nvSpPr>
          <p:cNvPr id="37" name="Shape 32"/>
          <p:cNvSpPr/>
          <p:nvPr/>
        </p:nvSpPr>
        <p:spPr>
          <a:xfrm>
            <a:off x="8321040" y="4892040"/>
            <a:ext cx="3337560" cy="1170432"/>
          </a:xfrm>
          <a:prstGeom prst="rect">
            <a:avLst/>
          </a:prstGeom>
          <a:solidFill>
            <a:srgbClr val="D7F3EF"/>
          </a:solidFill>
          <a:ln w="12700">
            <a:solidFill>
              <a:srgbClr val="D7F3EF"/>
            </a:solidFill>
            <a:prstDash val="solid"/>
          </a:ln>
        </p:spPr>
        <p:txBody>
          <a:bodyPr/>
          <a:lstStyle/>
          <a:p>
            <a:endParaRPr lang="en-US"/>
          </a:p>
        </p:txBody>
      </p:sp>
      <p:sp>
        <p:nvSpPr>
          <p:cNvPr id="38" name="Text 33"/>
          <p:cNvSpPr/>
          <p:nvPr/>
        </p:nvSpPr>
        <p:spPr>
          <a:xfrm>
            <a:off x="8458200" y="4965192"/>
            <a:ext cx="3063240" cy="1051560"/>
          </a:xfrm>
          <a:prstGeom prst="rect">
            <a:avLst/>
          </a:prstGeom>
          <a:noFill/>
          <a:ln/>
        </p:spPr>
        <p:txBody>
          <a:bodyPr wrap="square" lIns="0" tIns="0" rIns="0" bIns="0" rtlCol="0" anchor="t"/>
          <a:lstStyle/>
          <a:p>
            <a:pPr marL="0" indent="0">
              <a:buNone/>
            </a:pPr>
            <a:r>
              <a:rPr lang="en-US" sz="1150" b="1" dirty="0">
                <a:solidFill>
                  <a:srgbClr val="0F172A"/>
                </a:solidFill>
                <a:latin typeface="Calibri" pitchFamily="34" charset="0"/>
                <a:ea typeface="Calibri" pitchFamily="34" charset="-122"/>
                <a:cs typeface="Calibri" pitchFamily="34" charset="-120"/>
              </a:rPr>
              <a:t>Data sent to the AI</a:t>
            </a:r>
            <a:endParaRPr lang="en-US" sz="1150" dirty="0"/>
          </a:p>
          <a:p>
            <a:pPr marL="0" indent="0">
              <a:buNone/>
            </a:pPr>
            <a:r>
              <a:rPr lang="en-US" sz="1150" dirty="0">
                <a:solidFill>
                  <a:srgbClr val="0F172A"/>
                </a:solidFill>
                <a:latin typeface="Calibri" pitchFamily="34" charset="0"/>
                <a:ea typeface="Calibri" pitchFamily="34" charset="-122"/>
                <a:cs typeface="Calibri" pitchFamily="34" charset="-120"/>
              </a:rPr>
              <a:t>The question, table schema, metric definitions, a capped list of category values, the last three chat messages and evidence values. Needs a PHI/PII review before real data is used.</a:t>
            </a:r>
            <a:endParaRPr lang="en-US" sz="1150" dirty="0"/>
          </a:p>
        </p:txBody>
      </p:sp>
      <p:sp>
        <p:nvSpPr>
          <p:cNvPr id="39" name="Text 34"/>
          <p:cNvSpPr/>
          <p:nvPr/>
        </p:nvSpPr>
        <p:spPr>
          <a:xfrm>
            <a:off x="548640" y="6473952"/>
            <a:ext cx="4572000" cy="228600"/>
          </a:xfrm>
          <a:prstGeom prst="rect">
            <a:avLst/>
          </a:prstGeom>
          <a:noFill/>
          <a:ln/>
        </p:spPr>
        <p:txBody>
          <a:bodyPr wrap="square" lIns="0" tIns="0" rIns="0" bIns="0" rtlCol="0" anchor="ctr"/>
          <a:lstStyle/>
          <a:p>
            <a:pPr marL="0" indent="0">
              <a:buNone/>
            </a:pPr>
            <a:r>
              <a:rPr lang="en-US" sz="1000">
                <a:solidFill>
                  <a:srgbClr val="5B6B82"/>
                </a:solidFill>
                <a:latin typeface="Calibri"/>
                <a:ea typeface="Calibri"/>
                <a:cs typeface="Calibri"/>
              </a:rPr>
              <a:t>DataTalk.AI </a:t>
            </a:r>
            <a:endParaRPr lang="en-US" sz="1000">
              <a:latin typeface="Calibri"/>
              <a:ea typeface="Calibri"/>
              <a:cs typeface="Calibri"/>
            </a:endParaRPr>
          </a:p>
        </p:txBody>
      </p:sp>
      <p:sp>
        <p:nvSpPr>
          <p:cNvPr id="40" name="Text 35"/>
          <p:cNvSpPr/>
          <p:nvPr/>
        </p:nvSpPr>
        <p:spPr>
          <a:xfrm>
            <a:off x="11091672" y="6473952"/>
            <a:ext cx="548640" cy="228600"/>
          </a:xfrm>
          <a:prstGeom prst="rect">
            <a:avLst/>
          </a:prstGeom>
          <a:noFill/>
          <a:ln/>
        </p:spPr>
        <p:txBody>
          <a:bodyPr wrap="square" lIns="0" tIns="0" rIns="0" bIns="0" rtlCol="0" anchor="ctr"/>
          <a:lstStyle/>
          <a:p>
            <a:pPr marL="0" indent="0" algn="r">
              <a:buNone/>
            </a:pPr>
            <a:r>
              <a:rPr lang="en-US" sz="1000" dirty="0">
                <a:solidFill>
                  <a:srgbClr val="5B6B82"/>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59932E3-9528-6CB3-C331-60C88143C0F3}"/>
              </a:ext>
            </a:extLst>
          </p:cNvPr>
          <p:cNvSpPr txBox="1"/>
          <p:nvPr/>
        </p:nvSpPr>
        <p:spPr>
          <a:xfrm>
            <a:off x="2878159" y="1431623"/>
            <a:ext cx="514489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Thanks, slide</a:t>
            </a:r>
          </a:p>
        </p:txBody>
      </p:sp>
    </p:spTree>
    <p:extLst>
      <p:ext uri="{BB962C8B-B14F-4D97-AF65-F5344CB8AC3E}">
        <p14:creationId xmlns:p14="http://schemas.microsoft.com/office/powerpoint/2010/main" val="20577945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3ca48ea3-8c75-4d36-b64f-70604b11fd22}" enabled="1" method="Standard" siteId="{3ac94b33-9135-4821-9502-eafda6592a35}" removed="0"/>
</clbl:labelList>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6</Slides>
  <Notes>4</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DataTalk.AI - POC pitch</dc:title>
  <dc:subject>PptxGenJS Presentation</dc:subject>
  <dc:creator>Mustafa, Gulam [GTSIN NON-J&amp;J]</dc:creator>
  <cp:lastModifiedBy>Mustafa, Gulam [GTSIN NON-J&amp;J]</cp:lastModifiedBy>
  <cp:revision>71</cp:revision>
  <dcterms:created xsi:type="dcterms:W3CDTF">2026-10-22T12:01:38Z</dcterms:created>
  <dcterms:modified xsi:type="dcterms:W3CDTF">2026-10-22T13:52:21Z</dcterms:modified>
</cp:coreProperties>
</file>